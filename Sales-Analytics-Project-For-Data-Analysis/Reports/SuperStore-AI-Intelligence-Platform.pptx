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consolata"/>
      <p:regular r:id="rId201314"/>
    </p:embeddedFont>
    <p:embeddedFont>
      <p:font typeface="Inconsolata Black"/>
      <p:regular r:id="rId201315"/>
    </p:embeddedFont>
    <p:embeddedFont>
      <p:font typeface="Inconsolata Bold"/>
      <p:regular r:id="rId201316"/>
    </p:embeddedFont>
    <p:embeddedFont>
      <p:font typeface="Montserrat"/>
      <p:regular r:id="rId201317"/>
    </p:embeddedFont>
    <p:embeddedFont>
      <p:font typeface="Montserrat Bold"/>
      <p:regular r:id="rId201318"/>
    </p:embeddedFont>
    <p:embeddedFont>
      <p:font typeface="Montserrat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7.png"/><Relationship Id="rId10" Type="http://schemas.openxmlformats.org/officeDocument/2006/relationships/image" Target="../media/image-9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731070"/>
            <a:ext cx="3835502" cy="251420"/>
          </a:xfrm>
          <a:prstGeom prst="roundRect">
            <a:avLst>
              <a:gd name="adj" fmla="val 3031"/>
            </a:avLst>
          </a:prstGeom>
          <a:solidFill>
            <a:srgbClr val="E4E6E7"/>
          </a:solidFill>
          <a:ln/>
        </p:spPr>
      </p:sp>
      <p:sp>
        <p:nvSpPr>
          <p:cNvPr id="4" name="Text 1"/>
          <p:cNvSpPr/>
          <p:nvPr/>
        </p:nvSpPr>
        <p:spPr>
          <a:xfrm>
            <a:off x="5332577" y="1780679"/>
            <a:ext cx="424665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SCIENCE · BUSINESS INTELLIGENCE · MACHINE LEARNING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2048570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SuperStore AI Intelligence Platform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5233360" y="3330079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 end-to-end analytics and machine-learning platform transforming SuperStore transaction data into business insights, interactive dashboards, SQL analysis, and predictive Return_Flag classification — built across five structured Jupyter notebooks and deployed via Streamlit.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4615855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151617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233360" y="4862215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 Mohammed Kaif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Data Science · Machine Learning · AI · Data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7721"/>
            <a:ext cx="1280882" cy="243384"/>
          </a:xfrm>
          <a:prstGeom prst="roundRect">
            <a:avLst>
              <a:gd name="adj" fmla="val 313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516" y="705743"/>
            <a:ext cx="1698384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63116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From Raw Transactions to Predictive Intelligence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696541"/>
            <a:ext cx="10868745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project transforms SuperStore transaction data into an integrated analytics and predictive intelligence platform. It combines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Data Science, Business Intelligence, SQL, Machine Learning, Interactive Visualization,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and </a:t>
            </a:r>
            <a:pPr algn="l" indent="0" marL="0">
              <a:lnSpc>
                <a:spcPct val="131000"/>
              </a:lnSpc>
              <a:buNone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Streamlit Deployment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supporting both historical business understanding and forward-looking decision support.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6086" y="2628007"/>
            <a:ext cx="5469694" cy="3572272"/>
          </a:xfrm>
          <a:prstGeom prst="roundRect">
            <a:avLst>
              <a:gd name="adj" fmla="val 213"/>
            </a:avLst>
          </a:prstGeom>
          <a:solidFill>
            <a:srgbClr val="151617"/>
          </a:solidFill>
          <a:ln/>
        </p:spPr>
      </p:sp>
      <p:sp>
        <p:nvSpPr>
          <p:cNvPr id="7" name="Text 5"/>
          <p:cNvSpPr/>
          <p:nvPr/>
        </p:nvSpPr>
        <p:spPr>
          <a:xfrm>
            <a:off x="706221" y="2783185"/>
            <a:ext cx="5149424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Platform Capabilities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6221" y="3188692"/>
            <a:ext cx="5149424" cy="2091829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Descriptive analytics &amp; KPI intelligence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Plotly dashboards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Structured SQL business analysis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Statistical &amp; GroupBy analysis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Binary Return_Flag classification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comparison, evaluation &amp; explainability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Three deployed Streamlit applications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97653" y="2783185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Technology Foundation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97653" y="3188692"/>
            <a:ext cx="5238917" cy="2957314"/>
          </a:xfrm>
          <a:prstGeom prst="rect">
            <a:avLst/>
          </a:prstGeom>
          <a:noFill/>
          <a:ln/>
        </p:spPr>
        <p:txBody>
          <a:bodyPr wrap="square" lIns="0" tIns="64089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Python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Core language for all data processing, analysis, and ML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Pandas &amp; NumPy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Data manipulation and numerical computation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Matplotlib &amp; Seaborn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Static exploratory visualizations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Plotly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Interactive business intelligence charts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SQLite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Structured SQL business analysis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Scikit-learn &amp; Joblib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ML modeling and model persistence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Streamlit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Interactive web application deployment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Jupyter Notebook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Iterative notebook-based development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ReportLab</a:t>
            </a:r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PDF report generation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8773"/>
            <a:ext cx="1118763" cy="223838"/>
          </a:xfrm>
          <a:prstGeom prst="roundRect">
            <a:avLst>
              <a:gd name="adj" fmla="val 3404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777" y="542925"/>
            <a:ext cx="1551742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DATASET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74998"/>
            <a:ext cx="10868745" cy="460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SuperStore Transaction Data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61475" y="1432123"/>
            <a:ext cx="10868745" cy="44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platform is built on two primary dataset files and one SQLite database. The final machine-learning dataset contains </a:t>
            </a:r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5,901 rows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with </a:t>
            </a:r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53 engineered features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with </a:t>
            </a:r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Return_Flag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as the binary classification target. The dataset was split into </a:t>
            </a:r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4,720 training rows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and </a:t>
            </a:r>
            <a:pPr algn="l" indent="0" marL="0">
              <a:lnSpc>
                <a:spcPct val="126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1,181 testing rows</a:t>
            </a:r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098973"/>
            <a:ext cx="5352420" cy="486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5,901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61475" y="2756991"/>
            <a:ext cx="535242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Rows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1475" y="3065859"/>
            <a:ext cx="535242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Final ML dataset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77800" y="2098973"/>
            <a:ext cx="5352420" cy="486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177800" y="2756991"/>
            <a:ext cx="535242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7800" y="3065859"/>
            <a:ext cx="535242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After engineering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1475" y="3624659"/>
            <a:ext cx="5352420" cy="486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4,720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61475" y="4282678"/>
            <a:ext cx="535242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Training Rows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1475" y="4591546"/>
            <a:ext cx="535242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development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7800" y="3624659"/>
            <a:ext cx="5352420" cy="486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1,181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177800" y="4282678"/>
            <a:ext cx="535242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Test Rows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7800" y="4591546"/>
            <a:ext cx="535242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evaluation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1475" y="5093097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Source Files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475" y="5454452"/>
            <a:ext cx="5254692" cy="779264"/>
          </a:xfrm>
          <a:prstGeom prst="rect">
            <a:avLst/>
          </a:prstGeom>
          <a:noFill/>
          <a:ln/>
        </p:spPr>
        <p:txBody>
          <a:bodyPr wrap="square" lIns="0" tIns="58921" rIns="0" bIns="0" rtlCol="0" anchor="t">
            <a:normAutofit/>
          </a:bodyPr>
          <a:lstStyle/>
          <a:p>
            <a:pPr algn="l" marL="233680" indent="-233680">
              <a:lnSpc>
                <a:spcPct val="126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SuperStore_Sales_Dataset.csv</a:t>
            </a:r>
            <a:pPr algn="l" marL="233680" indent="-233680">
              <a:lnSpc>
                <a:spcPct val="126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Raw transaction data</a:t>
            </a:r>
            <a:endParaRPr lang="en-US" sz="1150" dirty="0"/>
          </a:p>
          <a:p>
            <a:pPr algn="l" marL="233680" indent="-233680">
              <a:lnSpc>
                <a:spcPct val="126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SuperStore_Feature_Engineered.csv</a:t>
            </a:r>
            <a:pPr algn="l" marL="233680" indent="-233680">
              <a:lnSpc>
                <a:spcPct val="126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Processed dataset</a:t>
            </a:r>
            <a:endParaRPr lang="en-US" sz="1150" dirty="0"/>
          </a:p>
          <a:p>
            <a:pPr algn="l" marL="233680" indent="-233680">
              <a:lnSpc>
                <a:spcPct val="126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superstore_analysis.db</a:t>
            </a:r>
            <a:pPr algn="l" marL="233680" indent="-233680">
              <a:lnSpc>
                <a:spcPct val="126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SQLite database for SQL analysis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81878" y="5093097"/>
            <a:ext cx="5254692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81878" y="5454452"/>
            <a:ext cx="5254692" cy="786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Return_Flag</a:t>
            </a:r>
            <a:pPr algn="l" indent="0" marL="0">
              <a:lnSpc>
                <a:spcPct val="126000"/>
              </a:lnSpc>
              <a:spcAft>
                <a:spcPts val="900"/>
              </a:spcAft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Binary Classification</a:t>
            </a:r>
            <a:endParaRPr lang="en-US" sz="11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Predicts whether a transaction will result in a product return, enabling proactive return-risk management and operational planning.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793036" cy="125710"/>
          </a:xfrm>
          <a:prstGeom prst="roundRect">
            <a:avLst>
              <a:gd name="adj" fmla="val 606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1083" y="479623"/>
            <a:ext cx="1303404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PLATFORM ARCHITECTURE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End-to-End Analytical Workflow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917476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project follows a structured, reproducible pipeline — from raw data ingestion through to deployed business intelligence and machine-learning prediction. Each stage builds upon the previous, ensuring data quality, analytical rigor, and decision-ready outputs.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63030"/>
            <a:ext cx="9753356" cy="548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6595864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workflow was developed across five Jupyter notebooks, each addressing a distinct analytical layer — from data preparation and EDA through to SQL analysis, interactive visualization, and complete machine-learning modeling with model comparison and evaluation.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3180"/>
            <a:ext cx="1280882" cy="243384"/>
          </a:xfrm>
          <a:prstGeom prst="roundRect">
            <a:avLst>
              <a:gd name="adj" fmla="val 313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516" y="571202"/>
            <a:ext cx="1698384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NOTEBOOK WORKFLOW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28576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Five-Notebook Development Process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562001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project was developed iteratively using Jupyter notebooks, each addressing a distinct analytical layer. This modular approach ensures reproducibility, clear separation of concerns, and a logical progression from data preparation through to predictive modeling.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2241153"/>
            <a:ext cx="320369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1475" y="2494260"/>
            <a:ext cx="3519399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2612430"/>
            <a:ext cx="3519399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01 — Data Inspection, Cleaning, Feature Engineering &amp; EDA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1475" y="3206155"/>
            <a:ext cx="3519399" cy="12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 loading, inspection, shape analysis, column analysis, data types, missing values, duplicates, cleaning, feature engineering, univariate, bivariate, and exploratory data analysis.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36049" y="2241153"/>
            <a:ext cx="320369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6049" y="2494260"/>
            <a:ext cx="3519499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2" name="Text 10"/>
          <p:cNvSpPr/>
          <p:nvPr/>
        </p:nvSpPr>
        <p:spPr>
          <a:xfrm>
            <a:off x="4336049" y="2612430"/>
            <a:ext cx="3519499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02 — GroupBy &amp; Statistical Business Analysis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336049" y="3206155"/>
            <a:ext cx="3519499" cy="1261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Pandas GroupBy, aggregation, sales analysis, profit analysis, category, regional, segment, and product analysis, statistical analysis, and business performance evaluation.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10721" y="2241153"/>
            <a:ext cx="320369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10721" y="2494260"/>
            <a:ext cx="3519499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6" name="Text 14"/>
          <p:cNvSpPr/>
          <p:nvPr/>
        </p:nvSpPr>
        <p:spPr>
          <a:xfrm>
            <a:off x="8010721" y="2612430"/>
            <a:ext cx="3519499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03 — SQL for Data Analysis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010721" y="2955826"/>
            <a:ext cx="3519499" cy="1015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SQLite queries using SELECT, WHERE, GROUP BY, ORDER BY, HAVING, CASE, aggregate functions, subqueries, and business KPI extraction from 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superstore_analysis.db</a:t>
            </a:r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1475" y="4743053"/>
            <a:ext cx="320369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1475" y="4996160"/>
            <a:ext cx="5356786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0" name="Text 18"/>
          <p:cNvSpPr/>
          <p:nvPr/>
        </p:nvSpPr>
        <p:spPr>
          <a:xfrm>
            <a:off x="661475" y="5114330"/>
            <a:ext cx="535678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04 — Plotly Business Insights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1475" y="5457726"/>
            <a:ext cx="5356786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Interactive visualizations covering sales trends, profit trends, category performance, regional performance, segment analysis, product performance, and profitability comparisons.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73435" y="4743053"/>
            <a:ext cx="320369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3435" y="4996160"/>
            <a:ext cx="5356786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4" name="Text 22"/>
          <p:cNvSpPr/>
          <p:nvPr/>
        </p:nvSpPr>
        <p:spPr>
          <a:xfrm>
            <a:off x="6173435" y="5114330"/>
            <a:ext cx="5356786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05 — ML Return Prediction &amp; Modeling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173435" y="5457726"/>
            <a:ext cx="5356786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Complete ML workflow: data preparation, target definition, feature preparation, train/test split, preprocessing, model training, comparison, evaluation, selection, prediction, and model export.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4152"/>
            <a:ext cx="1369284" cy="208062"/>
          </a:xfrm>
          <a:prstGeom prst="roundRect">
            <a:avLst>
              <a:gd name="adj" fmla="val 3662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3626" y="555228"/>
            <a:ext cx="1814566" cy="125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BUSINESS KPI DASHBOARD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67556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SuperStore Key Performance Indicators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365548"/>
            <a:ext cx="10868745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platform generates a comprehensive set of business KPIs from SuperStore transaction data. These metrics form the foundation of all downstream business intelligence, trend analysis, and strategic decision support.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1962051"/>
            <a:ext cx="5363532" cy="452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$1.57M</a:t>
            </a:r>
            <a:endParaRPr lang="en-US" sz="3550" dirty="0"/>
          </a:p>
        </p:txBody>
      </p:sp>
      <p:sp>
        <p:nvSpPr>
          <p:cNvPr id="7" name="Text 5"/>
          <p:cNvSpPr/>
          <p:nvPr/>
        </p:nvSpPr>
        <p:spPr>
          <a:xfrm>
            <a:off x="661475" y="2567583"/>
            <a:ext cx="536353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2849563"/>
            <a:ext cx="536353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$1,565,804.32 across all orders and categories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66688" y="1962051"/>
            <a:ext cx="5363532" cy="452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$175K</a:t>
            </a:r>
            <a:endParaRPr lang="en-US" sz="3550" dirty="0"/>
          </a:p>
        </p:txBody>
      </p:sp>
      <p:sp>
        <p:nvSpPr>
          <p:cNvPr id="10" name="Text 8"/>
          <p:cNvSpPr/>
          <p:nvPr/>
        </p:nvSpPr>
        <p:spPr>
          <a:xfrm>
            <a:off x="6166688" y="2567583"/>
            <a:ext cx="536353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66688" y="2849563"/>
            <a:ext cx="536353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$175,262.11 net profit generated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1475" y="3345061"/>
            <a:ext cx="5363532" cy="452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11.19%</a:t>
            </a:r>
            <a:endParaRPr lang="en-US" sz="3550" dirty="0"/>
          </a:p>
        </p:txBody>
      </p:sp>
      <p:sp>
        <p:nvSpPr>
          <p:cNvPr id="13" name="Text 11"/>
          <p:cNvSpPr/>
          <p:nvPr/>
        </p:nvSpPr>
        <p:spPr>
          <a:xfrm>
            <a:off x="661475" y="3950593"/>
            <a:ext cx="536353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1475" y="4232573"/>
            <a:ext cx="536353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Net profit as a percentage of total sales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66688" y="3345061"/>
            <a:ext cx="5363532" cy="452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3,003</a:t>
            </a:r>
            <a:endParaRPr lang="en-US" sz="3550" dirty="0"/>
          </a:p>
        </p:txBody>
      </p:sp>
      <p:sp>
        <p:nvSpPr>
          <p:cNvPr id="16" name="Text 14"/>
          <p:cNvSpPr/>
          <p:nvPr/>
        </p:nvSpPr>
        <p:spPr>
          <a:xfrm>
            <a:off x="6166688" y="3950593"/>
            <a:ext cx="536353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66688" y="4232573"/>
            <a:ext cx="536353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Across 773 unique customers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1475" y="4728071"/>
            <a:ext cx="5363532" cy="452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22,317</a:t>
            </a:r>
            <a:endParaRPr lang="en-US" sz="3550" dirty="0"/>
          </a:p>
        </p:txBody>
      </p:sp>
      <p:sp>
        <p:nvSpPr>
          <p:cNvPr id="19" name="Text 17"/>
          <p:cNvSpPr/>
          <p:nvPr/>
        </p:nvSpPr>
        <p:spPr>
          <a:xfrm>
            <a:off x="661475" y="5333603"/>
            <a:ext cx="536353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Quantity Sold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5615583"/>
            <a:ext cx="536353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units sold across all product categories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66688" y="4728071"/>
            <a:ext cx="5363532" cy="452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$521.41</a:t>
            </a:r>
            <a:endParaRPr lang="en-US" sz="3550" dirty="0"/>
          </a:p>
        </p:txBody>
      </p:sp>
      <p:sp>
        <p:nvSpPr>
          <p:cNvPr id="22" name="Text 20"/>
          <p:cNvSpPr/>
          <p:nvPr/>
        </p:nvSpPr>
        <p:spPr>
          <a:xfrm>
            <a:off x="6166688" y="5333603"/>
            <a:ext cx="536353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66688" y="5615583"/>
            <a:ext cx="536353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With $58.36 profit generated per order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1475" y="5943402"/>
            <a:ext cx="10868745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These KPIs are computed through Pandas aggregation, GroupBy analysis, and SQL queries — and are surfaced interactively across all three Streamlit applications for real-time stakeholder access.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3824"/>
            <a:ext cx="1537058" cy="243384"/>
          </a:xfrm>
          <a:prstGeom prst="roundRect">
            <a:avLst>
              <a:gd name="adj" fmla="val 313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516" y="641846"/>
            <a:ext cx="195456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BUSINESS INTELLIGENCE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99220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Four Dimensions of Business Intelligence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632645"/>
            <a:ext cx="10868745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platform analyzes SuperStore data across four intelligence dimensions — sales, profitability, customer behavior, and time trends — each explored through interactive Plotly visualizations, SQL queries, and statistical analysis.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11797"/>
            <a:ext cx="400536" cy="4005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906316"/>
            <a:ext cx="5337339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Sales Intelligence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61475" y="3249712"/>
            <a:ext cx="5337339" cy="1009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Sales performance across categories, regions, segments, and products. Time-based trend analysis reveals yearly and monthly sales patterns. SQL queries identify top-performing categories and regional sales contribution.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2782" y="2311797"/>
            <a:ext cx="400536" cy="4005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2782" y="2906316"/>
            <a:ext cx="5337438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Profitability Intelligence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192782" y="3249712"/>
            <a:ext cx="5337438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Profit performance, margin analysis, and profitability breakdowns by category, region, and product. Identifies high-margin opportunities and areas requiring strategic attention.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569321"/>
            <a:ext cx="400536" cy="4005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5163840"/>
            <a:ext cx="5337339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Customer Intelligence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61475" y="5507236"/>
            <a:ext cx="5337339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Analysis of 773 customers, their contribution to revenue, Average Order Value ($521.41), and Profit Per Order ($58.36). Segment-level analysis reveals behavioral patterns across customer groups.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2782" y="4569321"/>
            <a:ext cx="400536" cy="4005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92782" y="5163840"/>
            <a:ext cx="5337438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Time Intelligence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6192782" y="5507236"/>
            <a:ext cx="5337438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Yearly and monthly trends for sales, profit, and margin. Time-series visualizations support seasonal pattern identification and forward-looking performance planning.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90934"/>
            <a:ext cx="1138606" cy="227806"/>
          </a:xfrm>
          <a:prstGeom prst="roundRect">
            <a:avLst>
              <a:gd name="adj" fmla="val 3345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1365" y="535880"/>
            <a:ext cx="1568411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73013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Return_Flag Prediction Model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445121"/>
            <a:ext cx="10868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platform applies binary classification to predict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Return_Flag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Multiple algorithms were trained and compared, with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F1 Score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as the primary selection metric — balancing Precision and Recall for reliable positive-case identification.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61475" y="2190948"/>
            <a:ext cx="5251517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Models Evaluated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2560935"/>
            <a:ext cx="5251517" cy="2161480"/>
          </a:xfrm>
          <a:prstGeom prst="rect">
            <a:avLst/>
          </a:prstGeom>
          <a:noFill/>
          <a:ln/>
        </p:spPr>
        <p:txBody>
          <a:bodyPr wrap="square" lIns="0" tIns="59954" rIns="0" bIns="0" rtlCol="0" anchor="t">
            <a:normAutofit/>
          </a:bodyPr>
          <a:lstStyle/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Logistic Regression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Random Forest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Extra Trees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Gradient Boosting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Hist Gradient Boosting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KNN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SVM (when available)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XGBoost (when available)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61475" y="4844653"/>
            <a:ext cx="58611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Selected Model: Logistic Regression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7106" y="2055118"/>
            <a:ext cx="5467412" cy="3140373"/>
          </a:xfrm>
          <a:prstGeom prst="roundRect">
            <a:avLst>
              <a:gd name="adj" fmla="val 243"/>
            </a:avLst>
          </a:prstGeom>
          <a:solidFill>
            <a:srgbClr val="151617"/>
          </a:solidFill>
          <a:ln/>
        </p:spPr>
      </p:sp>
      <p:sp>
        <p:nvSpPr>
          <p:cNvPr id="10" name="Text 8"/>
          <p:cNvSpPr/>
          <p:nvPr/>
        </p:nvSpPr>
        <p:spPr>
          <a:xfrm>
            <a:off x="6326922" y="2190948"/>
            <a:ext cx="5167779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Performance — Test Set (1,181 rows)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26922" y="2560935"/>
            <a:ext cx="5167779" cy="1333103"/>
          </a:xfrm>
          <a:prstGeom prst="rect">
            <a:avLst/>
          </a:prstGeom>
          <a:noFill/>
          <a:ln/>
        </p:spPr>
        <p:txBody>
          <a:bodyPr wrap="square" lIns="0" tIns="59954" rIns="0" bIns="0" rtlCol="0" anchor="t">
            <a:normAutofit/>
          </a:bodyPr>
          <a:lstStyle/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Accuracy: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1.0000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Precision: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1.0000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Recall: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1.0000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F1 Score: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1.0000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b="1" dirty="0">
                <a:solidFill>
                  <a:srgbClr val="FFFFFF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ROC-AUC:</a:t>
            </a:r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1.0000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475" y="5348288"/>
            <a:ext cx="10868745" cy="1018679"/>
          </a:xfrm>
          <a:prstGeom prst="roundRect">
            <a:avLst>
              <a:gd name="adj" fmla="val 748"/>
            </a:avLst>
          </a:prstGeom>
          <a:solidFill>
            <a:srgbClr val="FCF2B5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291" y="5542756"/>
            <a:ext cx="187320" cy="1498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8428" y="5521523"/>
            <a:ext cx="10231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Model Validation Notice: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Perfect test-set performance should be thoroughly investigated before production deployment. Recommended validation areas include: target leakage, target-derived features, duplicate or highly related observations, dataset construction characteristics, and validation using genuinely unseen future data. This is a validation consideration — not a confirmed issue.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5040"/>
            <a:ext cx="1256475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844649"/>
            <a:ext cx="166762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125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Understanding Evaluation Metrics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87731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Five complementary metrics assess classifier performance.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F1 Score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is the primary selection criterion because Return_Flag prediction requires balancing reliable positive identification with minimizing missed returns.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592586"/>
            <a:ext cx="3512653" cy="15202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2776934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Accuracy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3134618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Overall classification correctness — proportion of correct predictions across both classes.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592586"/>
            <a:ext cx="3512752" cy="15202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964" y="2776934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99964" y="3134618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Reliability of positive predictions — of transactions flagged as returns, how many actually were.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592586"/>
            <a:ext cx="3512653" cy="15202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8010" y="2776934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Recall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78010" y="3134618"/>
            <a:ext cx="306776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Ability to identify positive cases — of actual returns, how many were correctly flagged.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78114"/>
            <a:ext cx="3512653" cy="17848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2017" y="4462463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F1 Score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922017" y="4820146"/>
            <a:ext cx="306776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Harmonic mean of Precision and Recall. Primary metric for model selection, balancing false positives and false negatives.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422" y="4278114"/>
            <a:ext cx="3512752" cy="178484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599964" y="4462463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ROC-AUC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599964" y="4820146"/>
            <a:ext cx="30678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Ability to distinguish between return and non-return transactions across all classification thresholds.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32780"/>
            <a:ext cx="1058141" cy="251420"/>
          </a:xfrm>
          <a:prstGeom prst="roundRect">
            <a:avLst>
              <a:gd name="adj" fmla="val 3031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1182390"/>
            <a:ext cx="146929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SQL 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4502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Structured Business Analysis with SQLite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15059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SQLite was used to perform structured, query-driven business analysis via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superstore_analysis.db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. SQL enables reproducible, auditable KPI extraction and segment-level investigation — complementing Pandas and GroupBy workflows.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10197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SQL Techniques Applied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525738"/>
            <a:ext cx="5232666" cy="2141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SELECT &amp; WHERE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Targeted data retrieval and filtering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GROUP BY &amp; HAVING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Aggregation by category, region, and segment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ORDER BY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Ranked performance comparisons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CASE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Conditional logic for custom business metrics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Aggregate Functions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SUM, COUNT, AVG for KPI computation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Subqueries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— Nested analytical queries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310197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Analytical Questions Addressed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525738"/>
            <a:ext cx="5232666" cy="1554460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categories generate the most sales?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regions generate the highest profit?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segments contribute the most revenue?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Which products have strong or weak profitability?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What are the major business KPIs?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2026-09-01T07:44:00Z</dcterms:created>
  <dcterms:modified xsi:type="dcterms:W3CDTF">2026-09-01T07:44:00Z</dcterms:modified>
</cp:coreProperties>
</file>