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ela Gothic One"/>
      <p:regular r:id="rId201314"/>
    </p:embeddedFont>
    <p:embeddedFont>
      <p:font typeface="DM Sans"/>
      <p:regular r:id="rId201315"/>
    </p:embeddedFont>
    <p:embeddedFont>
      <p:font typeface="DM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4.png"/><Relationship Id="rId9" Type="http://schemas.openxmlformats.org/officeDocument/2006/relationships/image" Target="../media/image-7-5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.png"/><Relationship Id="rId14" Type="http://schemas.openxmlformats.org/officeDocument/2006/relationships/image" Target="../media/image-9-2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.png"/><Relationship Id="rId18" Type="http://schemas.openxmlformats.org/officeDocument/2006/relationships/image" Target="../media/image-9-2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1.png"/><Relationship Id="rId22" Type="http://schemas.openxmlformats.org/officeDocument/2006/relationships/image" Target="../media/image-9-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1520726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YouTube Trending Analytics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73943" y="2614687"/>
            <a:ext cx="47671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end-to-end data analysis project — from raw data to actionable business intelligence — built with Python, Pandas, and advanced statistical methods.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73943" y="3417094"/>
            <a:ext cx="1496616" cy="205680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</p:sp>
      <p:sp>
        <p:nvSpPr>
          <p:cNvPr id="6" name="Text 3"/>
          <p:cNvSpPr/>
          <p:nvPr/>
        </p:nvSpPr>
        <p:spPr>
          <a:xfrm>
            <a:off x="555129" y="3457649"/>
            <a:ext cx="1791444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SCIENCE PORTFOLIO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038201" y="3417094"/>
            <a:ext cx="1395561" cy="205680"/>
          </a:xfrm>
          <a:prstGeom prst="roundRect">
            <a:avLst>
              <a:gd name="adj" fmla="val 22121"/>
            </a:avLst>
          </a:prstGeom>
          <a:noFill/>
          <a:ln w="4763">
            <a:solidFill>
              <a:srgbClr val="C9131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19387" y="3457649"/>
            <a:ext cx="1690390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INTELLIGENCE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501405" y="3417094"/>
            <a:ext cx="1279773" cy="205680"/>
          </a:xfrm>
          <a:prstGeom prst="roundRect">
            <a:avLst>
              <a:gd name="adj" fmla="val 22121"/>
            </a:avLst>
          </a:prstGeom>
          <a:noFill/>
          <a:ln w="4763">
            <a:solidFill>
              <a:srgbClr val="C9131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82591" y="3457649"/>
            <a:ext cx="1574602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STATISTICAL ANALYSIS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9140"/>
            <a:ext cx="8196114" cy="41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Technology Stack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73943" y="1019919"/>
            <a:ext cx="8653314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tool was selected for a specific analytical role — together forming a complete, production-grade data workflow.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341239"/>
            <a:ext cx="249659" cy="2496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943" y="1734741"/>
            <a:ext cx="4026098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Python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73943" y="2008956"/>
            <a:ext cx="4026098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language for data processing, analysis, and automation.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3884" y="1341239"/>
            <a:ext cx="249659" cy="2496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3884" y="1734741"/>
            <a:ext cx="4026173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Pandas &amp; NumPy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643884" y="2008956"/>
            <a:ext cx="4026173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wrangling, aggregation, and numerical computation at scale.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2431033"/>
            <a:ext cx="249659" cy="2496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3943" y="2824535"/>
            <a:ext cx="4026098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Matplotlib &amp; Seaborn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73943" y="3098750"/>
            <a:ext cx="4026098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Static visualisations for EDA and publication-quality charts.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3884" y="2431033"/>
            <a:ext cx="249659" cy="2496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3884" y="2824535"/>
            <a:ext cx="4026173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Plotly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643884" y="3098750"/>
            <a:ext cx="4026173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dashboards, treemaps, and sunburst charts for stakeholder presentations.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943" y="3712741"/>
            <a:ext cx="249659" cy="24965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3943" y="4106242"/>
            <a:ext cx="4026098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SciPy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473943" y="4380458"/>
            <a:ext cx="4026098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Hypothesis testing, correlation analysis, and statistical validation.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3884" y="3712741"/>
            <a:ext cx="249659" cy="24965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43884" y="4106242"/>
            <a:ext cx="4026173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4643884" y="4380458"/>
            <a:ext cx="4026173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Reproducible, narrative-driven analysis combining code, output, and documentation.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80777"/>
            <a:ext cx="8196114" cy="334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Dataset Overview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914772"/>
            <a:ext cx="5240685" cy="29478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7189" y="2104281"/>
            <a:ext cx="2707556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dataset captures </a:t>
            </a:r>
            <a:pPr algn="l" indent="0" marL="0">
              <a:lnSpc>
                <a:spcPct val="117000"/>
              </a:lnSpc>
              <a:buNone/>
            </a:pPr>
            <a:r>
              <a:rPr lang="en-US" sz="7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trending YouTube videos</a:t>
            </a:r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multiple countries, enriched with engagement metrics, temporal features, and content attributes — forming the foundation for a complete analytical pipeline.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473943" y="4033912"/>
            <a:ext cx="1991916" cy="728737"/>
          </a:xfrm>
          <a:prstGeom prst="roundRect">
            <a:avLst>
              <a:gd name="adj" fmla="val 5853"/>
            </a:avLst>
          </a:prstGeom>
          <a:solidFill>
            <a:srgbClr val="0A0A0A">
              <a:alpha val="95000"/>
            </a:srgbClr>
          </a:solidFill>
          <a:ln w="14288">
            <a:solidFill>
              <a:srgbClr val="8D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9731" y="4149700"/>
            <a:ext cx="1760339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Core Identity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9731" y="4362450"/>
            <a:ext cx="176033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video_id, title, description, channel_id, channel_title, tags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541984" y="4033912"/>
            <a:ext cx="1991916" cy="728737"/>
          </a:xfrm>
          <a:prstGeom prst="roundRect">
            <a:avLst>
              <a:gd name="adj" fmla="val 5853"/>
            </a:avLst>
          </a:prstGeom>
          <a:solidFill>
            <a:srgbClr val="0A0A0A">
              <a:alpha val="95000"/>
            </a:srgbClr>
          </a:solidFill>
          <a:ln w="14288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57773" y="4149700"/>
            <a:ext cx="1760339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Engagement Metrics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657773" y="4362450"/>
            <a:ext cx="176033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view_count, like_count, comment_count, favourite_count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610026" y="4033912"/>
            <a:ext cx="1991916" cy="728737"/>
          </a:xfrm>
          <a:prstGeom prst="roundRect">
            <a:avLst>
              <a:gd name="adj" fmla="val 5853"/>
            </a:avLst>
          </a:prstGeom>
          <a:solidFill>
            <a:srgbClr val="0A0A0A">
              <a:alpha val="95000"/>
            </a:srgbClr>
          </a:solidFill>
          <a:ln w="14288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5814" y="4149700"/>
            <a:ext cx="1760339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Temporal Features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25814" y="4362450"/>
            <a:ext cx="176033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publish_date, publish_hour, is_weekend, publish_quarter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678067" y="4033912"/>
            <a:ext cx="1991990" cy="728737"/>
          </a:xfrm>
          <a:prstGeom prst="roundRect">
            <a:avLst>
              <a:gd name="adj" fmla="val 5853"/>
            </a:avLst>
          </a:prstGeom>
          <a:solidFill>
            <a:srgbClr val="0A0A0A">
              <a:alpha val="95000"/>
            </a:srgbClr>
          </a:solidFill>
          <a:ln w="14288">
            <a:solidFill>
              <a:srgbClr val="8D24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93855" y="4149700"/>
            <a:ext cx="1760413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Engineered Features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793855" y="4362450"/>
            <a:ext cx="176041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engagement_score, like_rate, duration_category, view_bucket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16793"/>
            <a:ext cx="8196114" cy="320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Cleaning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3943" y="876821"/>
            <a:ext cx="8196114" cy="267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 sequential steps transformed raw, inconsistent data into a trustworthy analytical foundation. Each step addresses a distinct quality risk that could otherwise skew results or produce misleading business insights.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223070"/>
            <a:ext cx="486594" cy="5839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0486" y="1320329"/>
            <a:ext cx="7639571" cy="16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0486" y="1522363"/>
            <a:ext cx="7639571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or removed incomplete records to prevent null propagation.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43" y="1806997"/>
            <a:ext cx="486594" cy="5839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0486" y="1904256"/>
            <a:ext cx="7639571" cy="16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Duplicates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30486" y="2106290"/>
            <a:ext cx="7639571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Eliminated repeated video entries that would inflate aggregate metrics.</a:t>
            </a:r>
            <a:endParaRPr lang="en-US" sz="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2390924"/>
            <a:ext cx="486594" cy="5839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0486" y="2488183"/>
            <a:ext cx="7639571" cy="16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Type Conversion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1030486" y="2690217"/>
            <a:ext cx="7639571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Cast dates, integers, and floats to correct dtypes for accurate computation.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43" y="2974851"/>
            <a:ext cx="486594" cy="5839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0486" y="3072110"/>
            <a:ext cx="7639571" cy="16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Invalid Records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030486" y="3274144"/>
            <a:ext cx="7639571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Filtered outliers and logically impossible values (e.g., negative durations).</a:t>
            </a:r>
            <a:endParaRPr lang="en-US" sz="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43" y="3558778"/>
            <a:ext cx="486594" cy="58392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30486" y="3656037"/>
            <a:ext cx="7639571" cy="16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Feature Creation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1030486" y="3858071"/>
            <a:ext cx="7639571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Derived engagement rates, duration categories, and temporal flags.</a:t>
            </a:r>
            <a:endParaRPr lang="en-US" sz="7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943" y="4142705"/>
            <a:ext cx="486594" cy="58392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30486" y="4239964"/>
            <a:ext cx="7639571" cy="16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1030486" y="4441999"/>
            <a:ext cx="7639571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integrity checks confirmed a clean, analysis-ready dataset.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387251"/>
            <a:ext cx="4767114" cy="37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Feature Engineering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73943" y="907703"/>
            <a:ext cx="4767114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columns were transformed into business-ready features that directly support strategic decision-making.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73943" y="1353071"/>
            <a:ext cx="4767114" cy="820638"/>
          </a:xfrm>
          <a:prstGeom prst="roundRect">
            <a:avLst>
              <a:gd name="adj" fmla="val 5848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2931" y="1472059"/>
            <a:ext cx="4529138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Engagement Score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2931" y="1717774"/>
            <a:ext cx="4529138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Composite metric combining likes, comments, and views — enabling fair cross-category comparison.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73943" y="2270075"/>
            <a:ext cx="4767114" cy="652165"/>
          </a:xfrm>
          <a:prstGeom prst="roundRect">
            <a:avLst>
              <a:gd name="adj" fmla="val 7358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2931" y="2389063"/>
            <a:ext cx="4529138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Like &amp; Comment Rate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92931" y="2634779"/>
            <a:ext cx="452913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Normalised ratios revealing content quality independent of audience size.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3943" y="3018606"/>
            <a:ext cx="4767114" cy="820638"/>
          </a:xfrm>
          <a:prstGeom prst="roundRect">
            <a:avLst>
              <a:gd name="adj" fmla="val 5848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931" y="3137595"/>
            <a:ext cx="4529138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Duration Category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2931" y="3383310"/>
            <a:ext cx="4529138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Binned videos into Short, Medium, and Long segments to identify optimal length per category.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3943" y="3935611"/>
            <a:ext cx="4767114" cy="820638"/>
          </a:xfrm>
          <a:prstGeom prst="roundRect">
            <a:avLst>
              <a:gd name="adj" fmla="val 5848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2931" y="4054599"/>
            <a:ext cx="4529138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Upload Session &amp; Weekend Flag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2931" y="4300314"/>
            <a:ext cx="4529138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Temporal flags uncovering peak publishing windows and weekend performance patterns.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79698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Exploratory Data Analysis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480542"/>
            <a:ext cx="3932858" cy="2830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962" y="1463576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EDA Findings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41962" y="1821582"/>
            <a:ext cx="3932858" cy="1875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Music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dominates trending with the highest average views — a clear content opportunity.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 distribution is 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right-skewed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; a small fraction of videos drive the majority of traffic.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Short-form content (under 5 min) shows the 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highest engagement rates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most categories.</a:t>
            </a:r>
            <a:endParaRPr lang="en-US" sz="1050" dirty="0"/>
          </a:p>
          <a:p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Peak upload hours cluster between 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 PM and 8 PM</a:t>
            </a:r>
            <a:pPr algn="l" marL="213360" indent="-21336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aligning with audience activity windows.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407863"/>
            <a:ext cx="4767114" cy="70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Business Questions — Key Insights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3943" y="1246733"/>
            <a:ext cx="4767114" cy="31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Twenty analytical questions were answered across four strategic themes, each driving a specific business recommendation.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653555"/>
            <a:ext cx="4767114" cy="6285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3281" y="1775743"/>
            <a:ext cx="4465588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Content Performance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3281" y="2004789"/>
            <a:ext cx="4465588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Category, channel, and video-level analysis identifying top performers and content gaps.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43" y="2368004"/>
            <a:ext cx="4767114" cy="7835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3281" y="2490192"/>
            <a:ext cx="4465588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Engagement Patterns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53281" y="2719239"/>
            <a:ext cx="4465588" cy="31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Like rates, comment rates, and engagement scores benchmarked by category and duration.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943" y="3237533"/>
            <a:ext cx="4767114" cy="6285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3281" y="3359721"/>
            <a:ext cx="4465588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Upload Timing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53281" y="3588767"/>
            <a:ext cx="4465588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Hour, session, day, month, and weekend analysis revealing optimal publishing windows.</a:t>
            </a:r>
            <a:endParaRPr lang="en-US" sz="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3943" y="3951982"/>
            <a:ext cx="4767114" cy="7835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3281" y="4074170"/>
            <a:ext cx="4465588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Creative Optimisation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653281" y="4303216"/>
            <a:ext cx="4465588" cy="31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Title length, tag count, and duration category tested against view and engagement performance.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6684"/>
            <a:ext cx="8196114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Advanced EDA &amp; Time Series</a:t>
            </a:r>
            <a:endParaRPr lang="en-US" sz="1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713556"/>
            <a:ext cx="4010323" cy="4010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4497" y="2279972"/>
            <a:ext cx="4010323" cy="118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What the Advanced Analyses Revealed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4497" y="2436465"/>
            <a:ext cx="4010323" cy="39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2000"/>
              </a:lnSpc>
              <a:buSzPct val="100000"/>
              <a:buChar char="•"/>
            </a:pPr>
            <a:r>
              <a:rPr lang="en-US" sz="5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Heatmaps</a:t>
            </a:r>
            <a:pPr algn="l" marL="111760" indent="-111760">
              <a:lnSpc>
                <a:spcPct val="102000"/>
              </a:lnSpc>
              <a:buSzPct val="100000"/>
              <a:buChar char="•"/>
            </a:pPr>
            <a:r>
              <a:rPr lang="en-US" sz="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exposed strong category × time interaction effects on engagement.</a:t>
            </a:r>
            <a:endParaRPr lang="en-US" sz="550" dirty="0"/>
          </a:p>
          <a:p>
            <a:pPr algn="l" marL="111760" indent="-111760">
              <a:lnSpc>
                <a:spcPct val="102000"/>
              </a:lnSpc>
              <a:buSzPct val="100000"/>
              <a:buChar char="•"/>
            </a:pPr>
            <a:r>
              <a:rPr lang="en-US" sz="5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Treemaps and Sunbursts</a:t>
            </a:r>
            <a:pPr algn="l" marL="111760" indent="-111760">
              <a:lnSpc>
                <a:spcPct val="102000"/>
              </a:lnSpc>
              <a:buSzPct val="100000"/>
              <a:buChar char="•"/>
            </a:pPr>
            <a:r>
              <a:rPr lang="en-US" sz="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made hierarchical view-share intuitive for stakeholders.</a:t>
            </a:r>
            <a:endParaRPr lang="en-US" sz="550" dirty="0"/>
          </a:p>
          <a:p>
            <a:pPr algn="l" marL="111760" indent="-111760">
              <a:lnSpc>
                <a:spcPct val="102000"/>
              </a:lnSpc>
              <a:buSzPct val="100000"/>
              <a:buChar char="•"/>
            </a:pPr>
            <a:r>
              <a:rPr lang="en-US" sz="5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Radar charts</a:t>
            </a:r>
            <a:pPr algn="l" marL="111760" indent="-111760">
              <a:lnSpc>
                <a:spcPct val="102000"/>
              </a:lnSpc>
              <a:buSzPct val="100000"/>
              <a:buChar char="•"/>
            </a:pPr>
            <a:r>
              <a:rPr lang="en-US" sz="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enabled multi-metric category comparison in a single view.</a:t>
            </a:r>
            <a:endParaRPr lang="en-US" sz="550" dirty="0"/>
          </a:p>
          <a:p>
            <a:pPr algn="l" marL="111760" indent="-111760">
              <a:lnSpc>
                <a:spcPct val="102000"/>
              </a:lnSpc>
              <a:buSzPct val="100000"/>
              <a:buChar char="•"/>
            </a:pPr>
            <a:r>
              <a:rPr lang="en-US" sz="5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Time series</a:t>
            </a:r>
            <a:pPr algn="l" marL="111760" indent="-111760">
              <a:lnSpc>
                <a:spcPct val="102000"/>
              </a:lnSpc>
              <a:buSzPct val="100000"/>
              <a:buChar char="•"/>
            </a:pPr>
            <a:r>
              <a:rPr lang="en-US" sz="5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uncovered clear seasonal upload patterns and weekly trending cycles.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4497" y="2871788"/>
            <a:ext cx="4010323" cy="280839"/>
          </a:xfrm>
          <a:prstGeom prst="roundRect">
            <a:avLst>
              <a:gd name="adj" fmla="val 10759"/>
            </a:avLst>
          </a:prstGeom>
          <a:solidFill>
            <a:srgbClr val="740B0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381" y="2965326"/>
            <a:ext cx="89892" cy="718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98157" y="2924101"/>
            <a:ext cx="3704779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Executive KPI Dashboard consolidated Total Videos, Views, Likes, Comments, Average Engagement, Categories, and Channels into a single stakeholder-ready summary.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20216"/>
            <a:ext cx="8196114" cy="30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Statistical Analysis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73943" y="854422"/>
            <a:ext cx="8653314" cy="12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Rigorous hypothesis testing validated every insight — separating genuine patterns from random noise.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1051992"/>
            <a:ext cx="8196114" cy="55855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471" y="1261393"/>
            <a:ext cx="139601" cy="1396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9832" y="1154609"/>
            <a:ext cx="7647608" cy="153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t-Test &amp; Mann-Whitney U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919832" y="1346076"/>
            <a:ext cx="7647608" cy="12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Compared engagement between two groups (e.g., HD vs. non-HD videos).</a:t>
            </a:r>
            <a:endParaRPr lang="en-US" sz="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943" y="1674540"/>
            <a:ext cx="8196114" cy="558552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7471" y="1883941"/>
            <a:ext cx="139601" cy="13960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9832" y="1777157"/>
            <a:ext cx="7647608" cy="153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ANOVA &amp; Kruskal-Wallis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919832" y="1968624"/>
            <a:ext cx="7647608" cy="12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Tested for significant differences across multiple categories simultaneously.</a:t>
            </a:r>
            <a:endParaRPr lang="en-US" sz="7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943" y="2297088"/>
            <a:ext cx="8196114" cy="558552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7471" y="2506489"/>
            <a:ext cx="139601" cy="13960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19832" y="2399705"/>
            <a:ext cx="7647608" cy="153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Pearson &amp; Spearman</a:t>
            </a:r>
            <a:endParaRPr lang="en-US" sz="950" dirty="0"/>
          </a:p>
        </p:txBody>
      </p:sp>
      <p:sp>
        <p:nvSpPr>
          <p:cNvPr id="15" name="Text 7"/>
          <p:cNvSpPr/>
          <p:nvPr/>
        </p:nvSpPr>
        <p:spPr>
          <a:xfrm>
            <a:off x="919832" y="2591172"/>
            <a:ext cx="7647608" cy="12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Measured linear and monotonic relationships between duration, title length, and engagement.</a:t>
            </a:r>
            <a:endParaRPr lang="en-US" sz="7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3943" y="2919636"/>
            <a:ext cx="8196114" cy="558552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7471" y="3129037"/>
            <a:ext cx="139601" cy="139601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919832" y="3022253"/>
            <a:ext cx="7647608" cy="153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Shapiro-Wilk &amp; Levene</a:t>
            </a:r>
            <a:endParaRPr lang="en-US" sz="950" dirty="0"/>
          </a:p>
        </p:txBody>
      </p:sp>
      <p:sp>
        <p:nvSpPr>
          <p:cNvPr id="19" name="Text 9"/>
          <p:cNvSpPr/>
          <p:nvPr/>
        </p:nvSpPr>
        <p:spPr>
          <a:xfrm>
            <a:off x="919832" y="3213720"/>
            <a:ext cx="7647608" cy="12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Confirmed normality and equal variance — prerequisites for parametric tests.</a:t>
            </a:r>
            <a:endParaRPr lang="en-US" sz="7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3943" y="3542184"/>
            <a:ext cx="8196114" cy="558552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7471" y="3751585"/>
            <a:ext cx="139601" cy="139601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919832" y="3644801"/>
            <a:ext cx="7647608" cy="153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Chi-Square Test</a:t>
            </a:r>
            <a:endParaRPr lang="en-US" sz="950" dirty="0"/>
          </a:p>
        </p:txBody>
      </p:sp>
      <p:sp>
        <p:nvSpPr>
          <p:cNvPr id="23" name="Text 11"/>
          <p:cNvSpPr/>
          <p:nvPr/>
        </p:nvSpPr>
        <p:spPr>
          <a:xfrm>
            <a:off x="919832" y="3836268"/>
            <a:ext cx="7647608" cy="12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Tested independence between categorical variables such as category and upload session.</a:t>
            </a:r>
            <a:endParaRPr lang="en-US" sz="7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73943" y="4164732"/>
            <a:ext cx="8196114" cy="558552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97471" y="4374133"/>
            <a:ext cx="139601" cy="139601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919832" y="4267349"/>
            <a:ext cx="7647608" cy="153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Tukey HSD</a:t>
            </a:r>
            <a:endParaRPr lang="en-US" sz="950" dirty="0"/>
          </a:p>
        </p:txBody>
      </p:sp>
      <p:sp>
        <p:nvSpPr>
          <p:cNvPr id="27" name="Text 13"/>
          <p:cNvSpPr/>
          <p:nvPr/>
        </p:nvSpPr>
        <p:spPr>
          <a:xfrm>
            <a:off x="919832" y="4458816"/>
            <a:ext cx="7647608" cy="12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Post-hoc pairwise comparisons following ANOVA to pinpoint exactly which categories differed.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414933"/>
            <a:ext cx="4767114" cy="709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Business Recommendations &amp; Conclusion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73943" y="1253803"/>
            <a:ext cx="4767114" cy="609451"/>
          </a:xfrm>
          <a:prstGeom prst="roundRect">
            <a:avLst>
              <a:gd name="adj" fmla="val 7436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6606" y="1366465"/>
            <a:ext cx="4541788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Content Strategy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6606" y="1595512"/>
            <a:ext cx="4541788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Prioritise Music and Entertainment; target 3–8 minute videos for peak engagement.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73943" y="1949202"/>
            <a:ext cx="4767114" cy="609451"/>
          </a:xfrm>
          <a:prstGeom prst="roundRect">
            <a:avLst>
              <a:gd name="adj" fmla="val 7436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6606" y="2061865"/>
            <a:ext cx="4541788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Upload Timing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6606" y="2290911"/>
            <a:ext cx="4541788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Publish between 2 PM–8 PM on weekdays; avoid early-morning weekend uploads.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73943" y="2644601"/>
            <a:ext cx="4767114" cy="609451"/>
          </a:xfrm>
          <a:prstGeom prst="roundRect">
            <a:avLst>
              <a:gd name="adj" fmla="val 7436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6606" y="2757264"/>
            <a:ext cx="4541788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Optimisation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6606" y="2986311"/>
            <a:ext cx="4541788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 HD and captions; craft titles of 50–70 characters with 8–12 targeted tags.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3943" y="3340001"/>
            <a:ext cx="4767114" cy="609451"/>
          </a:xfrm>
          <a:prstGeom prst="roundRect">
            <a:avLst>
              <a:gd name="adj" fmla="val 7436"/>
            </a:avLst>
          </a:prstGeom>
          <a:solidFill>
            <a:srgbClr val="740B0B"/>
          </a:solidFill>
          <a:ln w="4763">
            <a:solidFill>
              <a:srgbClr val="8D24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6606" y="3452664"/>
            <a:ext cx="4541788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6606" y="3681710"/>
            <a:ext cx="4541788" cy="15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Extend to predictive modelling, real-time pipelines, and NLP-based sentiment analysis.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73943" y="4046116"/>
            <a:ext cx="4767114" cy="682377"/>
          </a:xfrm>
          <a:prstGeom prst="roundRect">
            <a:avLst>
              <a:gd name="adj" fmla="val 6642"/>
            </a:avLst>
          </a:prstGeom>
          <a:solidFill>
            <a:srgbClr val="740B0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44" y="4191298"/>
            <a:ext cx="134838" cy="1079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24582" y="4159002"/>
            <a:ext cx="4308574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Project Impact:</a:t>
            </a:r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This end-to-end analysis demonstrates production-ready skills in Python, Pandas, statistical testing, and business intelligence — portfolio-ready for Data Analyst, BI, and Data Scientist roles.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2026-08-04T08:56:27Z</dcterms:created>
  <dcterms:modified xsi:type="dcterms:W3CDTF">2026-08-04T08:56:27Z</dcterms:modified>
</cp:coreProperties>
</file>