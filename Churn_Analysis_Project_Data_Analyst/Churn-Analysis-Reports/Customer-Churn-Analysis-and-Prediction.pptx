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consolata"/>
      <p:regular r:id="rId201314"/>
    </p:embeddedFont>
    <p:embeddedFont>
      <p:font typeface="Inconsolata Black"/>
      <p:regular r:id="rId201315"/>
    </p:embeddedFont>
    <p:embeddedFont>
      <p:font typeface="Inconsolata Bold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.png"/><Relationship Id="rId12" Type="http://schemas.openxmlformats.org/officeDocument/2006/relationships/image" Target="../media/image-4-2.svg"/><Relationship Id="rId13" Type="http://schemas.openxmlformats.org/officeDocument/2006/relationships/image" Target="../media/image-4-1.png"/><Relationship Id="rId14" Type="http://schemas.openxmlformats.org/officeDocument/2006/relationships/image" Target="../media/image-4-2.svg"/><Relationship Id="rId15" Type="http://schemas.openxmlformats.org/officeDocument/2006/relationships/image" Target="../media/image-4-1.png"/><Relationship Id="rId16" Type="http://schemas.openxmlformats.org/officeDocument/2006/relationships/image" Target="../media/image-4-2.sv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image" Target="../media/image-6-1.png"/><Relationship Id="rId12" Type="http://schemas.openxmlformats.org/officeDocument/2006/relationships/image" Target="../media/image-6-2.sv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ik-Mohammed-Kaif" TargetMode="External"/><Relationship Id="rId4" Type="http://schemas.openxmlformats.org/officeDocument/2006/relationships/hyperlink" Target="https://www.linkedin.com/in/s-mohammed-kaif-2a500a341" TargetMode="External"/><Relationship Id="rId6" Type="http://schemas.openxmlformats.org/officeDocument/2006/relationships/hyperlink" Target="https://github.com/Shaik-Mohammed-Kaif/Data-Science-Analyst-Project/tree/main/Churn_Analysis_Project_Data_Analyst/Streamlit-Churn-Analytics-Dashboard" TargetMode="External"/><Relationship Id="rId8" Type="http://schemas.openxmlformats.org/officeDocument/2006/relationships/hyperlink" Target="https://github.com/Shaik-Mohammed-Kaif/Data-Science-Analyst-Project/blob/main/Churn_Analysis_Project_Data_Analyst/Streamlit-Churn-Analytics-Dashboard/Churn_Analysis_BI_Dashbord.pbix" TargetMode="Externa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5" Type="http://schemas.openxmlformats.org/officeDocument/2006/relationships/image" Target="../media/image-10-3.png"/><Relationship Id="rId7" Type="http://schemas.openxmlformats.org/officeDocument/2006/relationships/image" Target="../media/image-10-4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677219"/>
            <a:ext cx="8063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Churn Analysis &amp; Prediction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0023" y="2390849"/>
            <a:ext cx="8063954" cy="66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End-to-End Data Analytics · SQL · EDA · Machine Learning · Power BI · Streamlit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Intelligence | Churn Analytics | Revenue Risk | Predictive Analytics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0023" y="3231728"/>
            <a:ext cx="1110555" cy="234479"/>
          </a:xfrm>
          <a:prstGeom prst="roundRect">
            <a:avLst>
              <a:gd name="adj" fmla="val 2437"/>
            </a:avLst>
          </a:prstGeom>
          <a:solidFill>
            <a:srgbClr val="E4E6E7"/>
          </a:solidFill>
          <a:ln/>
        </p:spPr>
      </p:sp>
      <p:sp>
        <p:nvSpPr>
          <p:cNvPr id="5" name="Text 3"/>
          <p:cNvSpPr/>
          <p:nvPr/>
        </p:nvSpPr>
        <p:spPr>
          <a:xfrm>
            <a:off x="632594" y="3278014"/>
            <a:ext cx="138261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 MOHAMMED KAIF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67618"/>
            <a:ext cx="8063954" cy="27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at a Glance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0023" y="836488"/>
            <a:ext cx="8063954" cy="216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complete, production-grade analytics system for a Telecom and Subscription-Based business. This project combines Python data processing, SQL business analysis, machine learning prediction, and interactive dashboards into a unified customer intelligence platform.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540023" y="1108249"/>
            <a:ext cx="4007569" cy="456307"/>
          </a:xfrm>
          <a:prstGeom prst="roundRect">
            <a:avLst>
              <a:gd name="adj" fmla="val 125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1430" dir="2700000">
              <a:srgbClr val="15161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1552" y="1199778"/>
            <a:ext cx="382451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Type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31552" y="1364605"/>
            <a:ext cx="3824511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Churn Analytics &amp; Prediction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596408" y="1108249"/>
            <a:ext cx="4007569" cy="456307"/>
          </a:xfrm>
          <a:prstGeom prst="roundRect">
            <a:avLst>
              <a:gd name="adj" fmla="val 125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1430" dir="2700000">
              <a:srgbClr val="15161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87937" y="1199778"/>
            <a:ext cx="382451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Domain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87937" y="1364605"/>
            <a:ext cx="3824511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Telecom / Subscription Business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540023" y="1613371"/>
            <a:ext cx="4007569" cy="456307"/>
          </a:xfrm>
          <a:prstGeom prst="roundRect">
            <a:avLst>
              <a:gd name="adj" fmla="val 125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1430" dir="270000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552" y="1704901"/>
            <a:ext cx="382451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Approach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31552" y="1869728"/>
            <a:ext cx="3824511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Analytics + SQL + Machine Learning + BI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596408" y="1613371"/>
            <a:ext cx="4007569" cy="456307"/>
          </a:xfrm>
          <a:prstGeom prst="roundRect">
            <a:avLst>
              <a:gd name="adj" fmla="val 125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1430" dir="2700000">
              <a:srgbClr val="15161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87937" y="1704901"/>
            <a:ext cx="382451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87937" y="1869728"/>
            <a:ext cx="3824511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Business Intelligence + Predictive Customer Risk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40023" y="2142902"/>
            <a:ext cx="8063954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Technology Stack</a:t>
            </a:r>
            <a:endParaRPr lang="en-US" sz="8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023" y="2351708"/>
            <a:ext cx="173534" cy="17353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0023" y="2586261"/>
            <a:ext cx="400146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Processing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40023" y="2751088"/>
            <a:ext cx="4001467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Python · Pandas · NumPy</a:t>
            </a:r>
            <a:endParaRPr lang="en-US" sz="6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2510" y="2351708"/>
            <a:ext cx="173534" cy="17353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602510" y="2586261"/>
            <a:ext cx="400146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Visualization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602510" y="2751088"/>
            <a:ext cx="4001467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Matplotlib · Seaborn</a:t>
            </a:r>
            <a:endParaRPr lang="en-US" sz="6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023" y="2957140"/>
            <a:ext cx="173534" cy="17353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40023" y="3191694"/>
            <a:ext cx="400146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Database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40023" y="3356521"/>
            <a:ext cx="4001467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SQLite · SQL</a:t>
            </a:r>
            <a:endParaRPr lang="en-US" sz="6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02510" y="2957140"/>
            <a:ext cx="173534" cy="17353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602510" y="3191694"/>
            <a:ext cx="400146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4602510" y="3356521"/>
            <a:ext cx="4001467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Scikit-Learn</a:t>
            </a:r>
            <a:endParaRPr lang="en-US" sz="6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0023" y="3562573"/>
            <a:ext cx="173534" cy="17353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0023" y="3797126"/>
            <a:ext cx="400146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Business Intelligence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540023" y="3961954"/>
            <a:ext cx="4001467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Power BI</a:t>
            </a:r>
            <a:endParaRPr lang="en-US" sz="6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02510" y="3562573"/>
            <a:ext cx="173534" cy="17353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602510" y="3797126"/>
            <a:ext cx="400146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Web App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4602510" y="3961954"/>
            <a:ext cx="4001467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Streamlit</a:t>
            </a:r>
            <a:endParaRPr lang="en-US" sz="6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0023" y="4168006"/>
            <a:ext cx="173534" cy="17353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40023" y="4402559"/>
            <a:ext cx="400146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Geospatial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540023" y="4567386"/>
            <a:ext cx="4001467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GeoJSON</a:t>
            </a:r>
            <a:endParaRPr lang="en-US" sz="65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02510" y="4168006"/>
            <a:ext cx="173534" cy="17353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602510" y="4402559"/>
            <a:ext cx="4001467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Notebook</a:t>
            </a:r>
            <a:endParaRPr lang="en-US" sz="850" dirty="0"/>
          </a:p>
        </p:txBody>
      </p:sp>
      <p:sp>
        <p:nvSpPr>
          <p:cNvPr id="40" name="Text 30"/>
          <p:cNvSpPr/>
          <p:nvPr/>
        </p:nvSpPr>
        <p:spPr>
          <a:xfrm>
            <a:off x="4602510" y="4567386"/>
            <a:ext cx="4001467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Jupyter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7894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424309"/>
            <a:ext cx="463495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Business Context &amp; The Core Problem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0023" y="723230"/>
            <a:ext cx="4634954" cy="27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Customers subscribe to a range of services — Phone, Internet, Streaming, Online Security, Online Backup, Device Protection, and Technical Support. Understanding why they leave is critical to protecting revenue and customer lifetime value.</a:t>
            </a:r>
            <a:endParaRPr lang="en-US" sz="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1044327"/>
            <a:ext cx="4634954" cy="11517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4741" y="1130945"/>
            <a:ext cx="442361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Potential Churn Drivers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664741" y="1274638"/>
            <a:ext cx="4423618" cy="834851"/>
          </a:xfrm>
          <a:prstGeom prst="rect">
            <a:avLst/>
          </a:prstGeom>
          <a:noFill/>
          <a:ln/>
        </p:spPr>
        <p:txBody>
          <a:bodyPr wrap="square" lIns="0" tIns="30861" rIns="0" bIns="0" rtlCol="0" anchor="t">
            <a:normAutofit/>
          </a:bodyPr>
          <a:lstStyle/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 monthly charges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Short tenure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Contract type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Payment issues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Service problems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Poor customer experience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Support issues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dissatisfaction</a:t>
            </a:r>
            <a:endParaRPr lang="en-US" sz="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023" y="2234654"/>
            <a:ext cx="4634954" cy="73729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4741" y="2321272"/>
            <a:ext cx="442361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Central Question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664741" y="2464966"/>
            <a:ext cx="4423618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Why are customers leaving?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This project addresses three critical business questions:</a:t>
            </a:r>
            <a:endParaRPr lang="en-US" sz="600" dirty="0"/>
          </a:p>
        </p:txBody>
      </p:sp>
      <p:sp>
        <p:nvSpPr>
          <p:cNvPr id="11" name="Text 6"/>
          <p:cNvSpPr/>
          <p:nvPr/>
        </p:nvSpPr>
        <p:spPr>
          <a:xfrm>
            <a:off x="664741" y="2580680"/>
            <a:ext cx="4423618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21920" indent="-121920">
              <a:lnSpc>
                <a:spcPct val="100000"/>
              </a:lnSpc>
              <a:buSzPct val="100000"/>
              <a:buFont typeface="+mj-lt"/>
              <a:buAutoNum type="arabicPeriod" startAt="1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Why are customers leaving?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customers are most at risk?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How much revenue is potentially at risk?</a:t>
            </a:r>
            <a:endParaRPr lang="en-US" sz="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23" y="3015332"/>
            <a:ext cx="4634954" cy="21212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89018" y="4549036"/>
            <a:ext cx="870170" cy="335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 Loss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2992364" y="4632850"/>
            <a:ext cx="870170" cy="167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Churn Risk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901672" y="4549036"/>
            <a:ext cx="870170" cy="335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Unknown Behavior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787138" y="4549036"/>
            <a:ext cx="870170" cy="335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Data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540023" y="5179963"/>
            <a:ext cx="4634954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Without structured analytics, churn remains an invisible threat. This project transforms raw customer data into actionable retention intelligence.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30039"/>
            <a:ext cx="8063954" cy="301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Objectives &amp; Key Business Questions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40023" y="851967"/>
            <a:ext cx="8063954" cy="25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project is structured around a clear set of analytical objectives and business questions that drive every stage of the workflow — from data processing through to machine learning and dashboard delivery.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70595" y="1170384"/>
            <a:ext cx="4053185" cy="3543077"/>
          </a:xfrm>
          <a:prstGeom prst="roundRect">
            <a:avLst>
              <a:gd name="adj" fmla="val 161"/>
            </a:avLst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567035" y="1230660"/>
            <a:ext cx="3860304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Objectives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200" y="1453902"/>
            <a:ext cx="144661" cy="1446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0467" y="1449139"/>
            <a:ext cx="3546872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Analyze customer demographics and subscription behavior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200" y="1868537"/>
            <a:ext cx="144661" cy="1446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0467" y="1863775"/>
            <a:ext cx="3546872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Study customer tenure and service usage patterns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00" y="2283172"/>
            <a:ext cx="144661" cy="1446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0467" y="2278410"/>
            <a:ext cx="3546872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Identify high-risk customer segments</a:t>
            </a:r>
            <a:endParaRPr lang="en-US" sz="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200" y="2697807"/>
            <a:ext cx="144661" cy="1446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0467" y="2693045"/>
            <a:ext cx="3546872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Analyze contract-level and payment-method churn</a:t>
            </a:r>
            <a:endParaRPr lang="en-US" sz="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3200" y="3112443"/>
            <a:ext cx="144661" cy="14466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80467" y="3107680"/>
            <a:ext cx="3546872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Perform SQL business analysis</a:t>
            </a:r>
            <a:endParaRPr lang="en-US" sz="7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3200" y="3527078"/>
            <a:ext cx="144661" cy="14466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80467" y="3522315"/>
            <a:ext cx="3546872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churn prediction models</a:t>
            </a:r>
            <a:endParaRPr lang="en-US" sz="7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3200" y="3941713"/>
            <a:ext cx="144661" cy="14466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80467" y="3936950"/>
            <a:ext cx="3546872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Create Power BI dashboard and Streamlit web app</a:t>
            </a:r>
            <a:endParaRPr lang="en-US" sz="7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3200" y="4356348"/>
            <a:ext cx="144661" cy="144661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880467" y="4351586"/>
            <a:ext cx="3546872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Generate actionable business recommendations</a:t>
            </a:r>
            <a:endParaRPr lang="en-US" sz="750" dirty="0"/>
          </a:p>
        </p:txBody>
      </p:sp>
      <p:sp>
        <p:nvSpPr>
          <p:cNvPr id="22" name="Text 12"/>
          <p:cNvSpPr/>
          <p:nvPr/>
        </p:nvSpPr>
        <p:spPr>
          <a:xfrm>
            <a:off x="4694411" y="1230660"/>
            <a:ext cx="3914329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Business Questions</a:t>
            </a:r>
            <a:endParaRPr lang="en-US" sz="900" dirty="0"/>
          </a:p>
        </p:txBody>
      </p:sp>
      <p:sp>
        <p:nvSpPr>
          <p:cNvPr id="23" name="Shape 13"/>
          <p:cNvSpPr/>
          <p:nvPr/>
        </p:nvSpPr>
        <p:spPr>
          <a:xfrm>
            <a:off x="4694411" y="1449139"/>
            <a:ext cx="1927027" cy="346770"/>
          </a:xfrm>
          <a:prstGeom prst="roundRect">
            <a:avLst>
              <a:gd name="adj" fmla="val 1648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2700" dir="2700000">
              <a:srgbClr val="151617">
                <a:alpha val="100000"/>
              </a:srgbClr>
            </a:outerShdw>
          </a:effectLst>
        </p:spPr>
      </p:sp>
      <p:sp>
        <p:nvSpPr>
          <p:cNvPr id="24" name="Text 14"/>
          <p:cNvSpPr/>
          <p:nvPr/>
        </p:nvSpPr>
        <p:spPr>
          <a:xfrm>
            <a:off x="4805139" y="1559868"/>
            <a:ext cx="1705570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What is the overall churn rate?</a:t>
            </a:r>
            <a:endParaRPr lang="en-US" sz="750" dirty="0"/>
          </a:p>
        </p:txBody>
      </p:sp>
      <p:sp>
        <p:nvSpPr>
          <p:cNvPr id="25" name="Shape 15"/>
          <p:cNvSpPr/>
          <p:nvPr/>
        </p:nvSpPr>
        <p:spPr>
          <a:xfrm>
            <a:off x="6681713" y="1449139"/>
            <a:ext cx="1927027" cy="346770"/>
          </a:xfrm>
          <a:prstGeom prst="roundRect">
            <a:avLst>
              <a:gd name="adj" fmla="val 1648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2700" dir="2700000">
              <a:srgbClr val="151617">
                <a:alpha val="100000"/>
              </a:srgbClr>
            </a:outerShdw>
          </a:effectLst>
        </p:spPr>
      </p:sp>
      <p:sp>
        <p:nvSpPr>
          <p:cNvPr id="26" name="Text 16"/>
          <p:cNvSpPr/>
          <p:nvPr/>
        </p:nvSpPr>
        <p:spPr>
          <a:xfrm>
            <a:off x="6792441" y="1559868"/>
            <a:ext cx="1705570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customer groups churn most?</a:t>
            </a:r>
            <a:endParaRPr lang="en-US" sz="750" dirty="0"/>
          </a:p>
        </p:txBody>
      </p:sp>
      <p:sp>
        <p:nvSpPr>
          <p:cNvPr id="27" name="Shape 17"/>
          <p:cNvSpPr/>
          <p:nvPr/>
        </p:nvSpPr>
        <p:spPr>
          <a:xfrm>
            <a:off x="4694411" y="1856184"/>
            <a:ext cx="1927027" cy="346770"/>
          </a:xfrm>
          <a:prstGeom prst="roundRect">
            <a:avLst>
              <a:gd name="adj" fmla="val 1648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2700" dir="2700000">
              <a:srgbClr val="151617">
                <a:alpha val="100000"/>
              </a:srgbClr>
            </a:outerShdw>
          </a:effectLst>
        </p:spPr>
      </p:sp>
      <p:sp>
        <p:nvSpPr>
          <p:cNvPr id="28" name="Text 18"/>
          <p:cNvSpPr/>
          <p:nvPr/>
        </p:nvSpPr>
        <p:spPr>
          <a:xfrm>
            <a:off x="4805139" y="1966913"/>
            <a:ext cx="1705570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Does tenure influence churn?</a:t>
            </a:r>
            <a:endParaRPr lang="en-US" sz="750" dirty="0"/>
          </a:p>
        </p:txBody>
      </p:sp>
      <p:sp>
        <p:nvSpPr>
          <p:cNvPr id="29" name="Shape 19"/>
          <p:cNvSpPr/>
          <p:nvPr/>
        </p:nvSpPr>
        <p:spPr>
          <a:xfrm>
            <a:off x="6681713" y="1856184"/>
            <a:ext cx="1927027" cy="346770"/>
          </a:xfrm>
          <a:prstGeom prst="roundRect">
            <a:avLst>
              <a:gd name="adj" fmla="val 1648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2700" dir="2700000">
              <a:srgbClr val="151617">
                <a:alpha val="100000"/>
              </a:srgbClr>
            </a:outerShdw>
          </a:effectLst>
        </p:spPr>
      </p:sp>
      <p:sp>
        <p:nvSpPr>
          <p:cNvPr id="30" name="Text 20"/>
          <p:cNvSpPr/>
          <p:nvPr/>
        </p:nvSpPr>
        <p:spPr>
          <a:xfrm>
            <a:off x="6792441" y="1966913"/>
            <a:ext cx="1705570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contracts have higher churn?</a:t>
            </a:r>
            <a:endParaRPr lang="en-US" sz="750" dirty="0"/>
          </a:p>
        </p:txBody>
      </p:sp>
      <p:sp>
        <p:nvSpPr>
          <p:cNvPr id="31" name="Shape 21"/>
          <p:cNvSpPr/>
          <p:nvPr/>
        </p:nvSpPr>
        <p:spPr>
          <a:xfrm>
            <a:off x="4694411" y="2263229"/>
            <a:ext cx="1927027" cy="472083"/>
          </a:xfrm>
          <a:prstGeom prst="roundRect">
            <a:avLst>
              <a:gd name="adj" fmla="val 1211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2700" dir="2700000">
              <a:srgbClr val="151617">
                <a:alpha val="100000"/>
              </a:srgbClr>
            </a:outerShdw>
          </a:effectLst>
        </p:spPr>
      </p:sp>
      <p:sp>
        <p:nvSpPr>
          <p:cNvPr id="32" name="Text 22"/>
          <p:cNvSpPr/>
          <p:nvPr/>
        </p:nvSpPr>
        <p:spPr>
          <a:xfrm>
            <a:off x="4805139" y="2373957"/>
            <a:ext cx="1705570" cy="25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payment methods correlate with churn?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6681713" y="2263229"/>
            <a:ext cx="1927027" cy="472083"/>
          </a:xfrm>
          <a:prstGeom prst="roundRect">
            <a:avLst>
              <a:gd name="adj" fmla="val 1211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2700" dir="2700000">
              <a:srgbClr val="151617">
                <a:alpha val="100000"/>
              </a:srgbClr>
            </a:outerShdw>
          </a:effectLst>
        </p:spPr>
      </p:sp>
      <p:sp>
        <p:nvSpPr>
          <p:cNvPr id="34" name="Text 24"/>
          <p:cNvSpPr/>
          <p:nvPr/>
        </p:nvSpPr>
        <p:spPr>
          <a:xfrm>
            <a:off x="6792441" y="2373957"/>
            <a:ext cx="1705570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states show higher churn?</a:t>
            </a:r>
            <a:endParaRPr lang="en-US" sz="750" dirty="0"/>
          </a:p>
        </p:txBody>
      </p:sp>
      <p:sp>
        <p:nvSpPr>
          <p:cNvPr id="35" name="Shape 25"/>
          <p:cNvSpPr/>
          <p:nvPr/>
        </p:nvSpPr>
        <p:spPr>
          <a:xfrm>
            <a:off x="4694411" y="2795588"/>
            <a:ext cx="1927027" cy="472083"/>
          </a:xfrm>
          <a:prstGeom prst="roundRect">
            <a:avLst>
              <a:gd name="adj" fmla="val 1211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2700" dir="2700000">
              <a:srgbClr val="151617">
                <a:alpha val="100000"/>
              </a:srgbClr>
            </a:outerShdw>
          </a:effectLst>
        </p:spPr>
      </p:sp>
      <p:sp>
        <p:nvSpPr>
          <p:cNvPr id="36" name="Text 26"/>
          <p:cNvSpPr/>
          <p:nvPr/>
        </p:nvSpPr>
        <p:spPr>
          <a:xfrm>
            <a:off x="4805139" y="2906316"/>
            <a:ext cx="1705570" cy="25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How do monthly charges relate to churn?</a:t>
            </a:r>
            <a:endParaRPr lang="en-US" sz="750" dirty="0"/>
          </a:p>
        </p:txBody>
      </p:sp>
      <p:sp>
        <p:nvSpPr>
          <p:cNvPr id="37" name="Shape 27"/>
          <p:cNvSpPr/>
          <p:nvPr/>
        </p:nvSpPr>
        <p:spPr>
          <a:xfrm>
            <a:off x="6681713" y="2795588"/>
            <a:ext cx="1927027" cy="472083"/>
          </a:xfrm>
          <a:prstGeom prst="roundRect">
            <a:avLst>
              <a:gd name="adj" fmla="val 1211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2700" dir="2700000">
              <a:srgbClr val="151617">
                <a:alpha val="100000"/>
              </a:srgbClr>
            </a:outerShdw>
          </a:effectLst>
        </p:spPr>
      </p:sp>
      <p:sp>
        <p:nvSpPr>
          <p:cNvPr id="38" name="Text 28"/>
          <p:cNvSpPr/>
          <p:nvPr/>
        </p:nvSpPr>
        <p:spPr>
          <a:xfrm>
            <a:off x="6792441" y="2906316"/>
            <a:ext cx="1705570" cy="25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customers are predicted to churn?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End-to-End Project Workflow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0023" y="742504"/>
            <a:ext cx="8063954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project follows a structured, production-grade pipeline — from raw data ingestion through to executive dashboards and a live web application. Each stage is designed to ensure data quality, analytical rigor, and business relevance.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971029"/>
            <a:ext cx="73152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0023" y="5167759"/>
            <a:ext cx="393791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Assets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40023" y="5326856"/>
            <a:ext cx="3937918" cy="397222"/>
          </a:xfrm>
          <a:prstGeom prst="rect">
            <a:avLst/>
          </a:prstGeom>
          <a:noFill/>
          <a:ln/>
        </p:spPr>
        <p:txBody>
          <a:bodyPr wrap="square" lIns="0" tIns="30861" rIns="0" bIns="0" rtlCol="0" anchor="t">
            <a:normAutofit/>
          </a:bodyPr>
          <a:lstStyle/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CSV: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Churn_Customer_Data.csv, Clean_customer_data.csv, Customer_Data.csv, Customer_Churn_Predictions.csv, Predicted_Churned_Customers.csv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Database: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customer_churn.db, customer_data.db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Geographic: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india_state.geojson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4670822" y="5167759"/>
            <a:ext cx="393791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Processing Steps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670822" y="5326856"/>
            <a:ext cx="3937918" cy="728811"/>
          </a:xfrm>
          <a:prstGeom prst="rect">
            <a:avLst/>
          </a:prstGeom>
          <a:noFill/>
          <a:ln/>
        </p:spPr>
        <p:txBody>
          <a:bodyPr wrap="square" lIns="0" tIns="30861" rIns="0" bIns="0" rtlCol="0" anchor="t">
            <a:normAutofit/>
          </a:bodyPr>
          <a:lstStyle/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loading and inspection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Missing-value analysis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Duplicate detection and removal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type validation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Numerical and categorical analysis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consistency checks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Preparation for analytics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55712"/>
            <a:ext cx="8063954" cy="25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Data Dimensions &amp; EDA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0023" y="798909"/>
            <a:ext cx="8063954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dataset covers four analytical dimensions spanning customer demographics, service subscriptions, billing information, and lifecycle attributes. Exploratory Data Analysis investigates patterns across each dimension to surface churn signals.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540023" y="1048643"/>
            <a:ext cx="4010174" cy="1121346"/>
          </a:xfrm>
          <a:prstGeom prst="roundRect">
            <a:avLst>
              <a:gd name="adj" fmla="val 510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0160" dir="2700000">
              <a:srgbClr val="15161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6715" y="1135335"/>
            <a:ext cx="3836789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Demographics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26715" y="1289521"/>
            <a:ext cx="3836789" cy="447080"/>
          </a:xfrm>
          <a:prstGeom prst="rect">
            <a:avLst/>
          </a:prstGeom>
          <a:noFill/>
          <a:ln/>
        </p:spPr>
        <p:txBody>
          <a:bodyPr wrap="square" lIns="0" tIns="32790" rIns="0" bIns="0" rtlCol="0" anchor="t">
            <a:normAutofit/>
          </a:bodyPr>
          <a:lstStyle/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Gender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Age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Marital Status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State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4593729" y="1048643"/>
            <a:ext cx="4010248" cy="1121346"/>
          </a:xfrm>
          <a:prstGeom prst="roundRect">
            <a:avLst>
              <a:gd name="adj" fmla="val 510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0160" dir="2700000">
              <a:srgbClr val="15161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80421" y="1135335"/>
            <a:ext cx="383686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Services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80421" y="1289521"/>
            <a:ext cx="3836863" cy="793775"/>
          </a:xfrm>
          <a:prstGeom prst="rect">
            <a:avLst/>
          </a:prstGeom>
          <a:noFill/>
          <a:ln/>
        </p:spPr>
        <p:txBody>
          <a:bodyPr wrap="square" lIns="0" tIns="32790" rIns="0" bIns="0" rtlCol="0" anchor="t">
            <a:normAutofit/>
          </a:bodyPr>
          <a:lstStyle/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Phone Service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Internet Service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Streaming Services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Online Security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Online Backup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Device Protection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Premium Support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540023" y="2213521"/>
            <a:ext cx="4010174" cy="1005780"/>
          </a:xfrm>
          <a:prstGeom prst="roundRect">
            <a:avLst>
              <a:gd name="adj" fmla="val 56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0160" dir="270000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715" y="2300213"/>
            <a:ext cx="3836789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Billing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6715" y="2454399"/>
            <a:ext cx="3836789" cy="678210"/>
          </a:xfrm>
          <a:prstGeom prst="rect">
            <a:avLst/>
          </a:prstGeom>
          <a:noFill/>
          <a:ln/>
        </p:spPr>
        <p:txBody>
          <a:bodyPr wrap="square" lIns="0" tIns="32790" rIns="0" bIns="0" rtlCol="0" anchor="t">
            <a:normAutofit/>
          </a:bodyPr>
          <a:lstStyle/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Monthly Charges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Charges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Refunds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Extra Data Charges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Long Distance Charges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Revenue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593729" y="2213521"/>
            <a:ext cx="4010248" cy="1005780"/>
          </a:xfrm>
          <a:prstGeom prst="roundRect">
            <a:avLst>
              <a:gd name="adj" fmla="val 56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0160" dir="2700000">
              <a:srgbClr val="15161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80421" y="2300213"/>
            <a:ext cx="383686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Lifecycle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80421" y="2454399"/>
            <a:ext cx="3836863" cy="562645"/>
          </a:xfrm>
          <a:prstGeom prst="rect">
            <a:avLst/>
          </a:prstGeom>
          <a:noFill/>
          <a:ln/>
        </p:spPr>
        <p:txBody>
          <a:bodyPr wrap="square" lIns="0" tIns="32790" rIns="0" bIns="0" rtlCol="0" anchor="t">
            <a:normAutofit/>
          </a:bodyPr>
          <a:lstStyle/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Tenure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Contract Type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Payment Method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Paperless Billing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Status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40023" y="3284562"/>
            <a:ext cx="8063954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EDA Focus Areas</a:t>
            </a:r>
            <a:endParaRPr lang="en-US" sz="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023" y="3477890"/>
            <a:ext cx="4010174" cy="28329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69578" y="3569345"/>
            <a:ext cx="3789164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Demographics: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Gender, age, marital status, and state-level distribution</a:t>
            </a:r>
            <a:endParaRPr lang="en-US" sz="6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3729" y="3477890"/>
            <a:ext cx="4010248" cy="28329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723284" y="3569345"/>
            <a:ext cx="3789238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Tenure: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Relationship between customer tenure and churn probability</a:t>
            </a:r>
            <a:endParaRPr lang="en-US" sz="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023" y="3804717"/>
            <a:ext cx="4010174" cy="28329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9578" y="3896171"/>
            <a:ext cx="3789164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Services: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Internet type, phone service, streaming, and support package uptake</a:t>
            </a:r>
            <a:endParaRPr lang="en-US" sz="6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3729" y="3804717"/>
            <a:ext cx="4010248" cy="28329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23284" y="3896171"/>
            <a:ext cx="3789238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Contracts: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Month-to-month vs. long-term contract churn rates</a:t>
            </a:r>
            <a:endParaRPr lang="en-US" sz="6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0023" y="4131543"/>
            <a:ext cx="4010174" cy="28329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9578" y="4222998"/>
            <a:ext cx="3789164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Payment: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Payment method correlation with churn behavior</a:t>
            </a:r>
            <a:endParaRPr lang="en-US" sz="6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93729" y="4131543"/>
            <a:ext cx="4010248" cy="28329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723284" y="4222998"/>
            <a:ext cx="3789238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Charges: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Monthly and total charge distribution for churned vs. retained customers</a:t>
            </a:r>
            <a:endParaRPr lang="en-US" sz="600" dirty="0"/>
          </a:p>
        </p:txBody>
      </p:sp>
      <p:sp>
        <p:nvSpPr>
          <p:cNvPr id="29" name="Shape 21"/>
          <p:cNvSpPr/>
          <p:nvPr/>
        </p:nvSpPr>
        <p:spPr>
          <a:xfrm>
            <a:off x="540023" y="4463802"/>
            <a:ext cx="8063954" cy="223986"/>
          </a:xfrm>
          <a:prstGeom prst="roundRect">
            <a:avLst>
              <a:gd name="adj" fmla="val 2551"/>
            </a:avLst>
          </a:prstGeom>
          <a:solidFill>
            <a:srgbClr val="E4E6E7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953" y="4527798"/>
            <a:ext cx="102468" cy="8193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06351" y="4527798"/>
            <a:ext cx="8172896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Where actual EDA results are unavailable, placeholders such as </a:t>
            </a:r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[INSERT ACTUAL EDA RESULT]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are used throughout visualizations and analysis outputs.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07578"/>
            <a:ext cx="8063954" cy="25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Churn Pattern Analysis &amp; SQL Business Intelligence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0023" y="850776"/>
            <a:ext cx="8063954" cy="205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Churn is analyzed across multiple customer dimensions to identify which segments carry the highest attrition risk. SQL queries on SQLite databases (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customer_churn.db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customer_data.db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 enable structured business analysis at scale.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540023" y="1105272"/>
            <a:ext cx="8063954" cy="1675061"/>
          </a:xfrm>
          <a:prstGeom prst="roundRect">
            <a:avLst>
              <a:gd name="adj" fmla="val 34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0023" y="1274564"/>
            <a:ext cx="8063954" cy="51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0023" y="1541859"/>
            <a:ext cx="8063954" cy="51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0023" y="1809155"/>
            <a:ext cx="8063954" cy="51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0023" y="2076450"/>
            <a:ext cx="8063954" cy="51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0023" y="2343745"/>
            <a:ext cx="8063954" cy="51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0023" y="2510656"/>
            <a:ext cx="8063954" cy="51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6864" y="1140916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Dimension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640434" y="1140916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Churn Rate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654004" y="1140916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Count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667574" y="1140916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Business Interpretation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626864" y="1307827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Contract Type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640434" y="1307827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ACTUAL CHURN RATE]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654004" y="1307827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TOTAL CUSTOMERS]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667574" y="1307827"/>
            <a:ext cx="1849710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Month-to-month contracts typically show higher churn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26864" y="1575122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Payment Method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640434" y="1575122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ACTUAL CHURN RATE]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654004" y="1575122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TOTAL CUSTOMERS]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667574" y="1575122"/>
            <a:ext cx="1849710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Electronic check payments often correlate with higher churn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626864" y="1842418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Internet Service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640434" y="1842418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ACTUAL CHURN RATE]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54004" y="1842418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TOTAL CUSTOMERS]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667574" y="1842418"/>
            <a:ext cx="1849710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Fiber optic users may show elevated churn due to pricing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626864" y="2109713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Tenure Band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640434" y="2109713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ACTUAL CHURN RATE]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654004" y="2109713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TOTAL CUSTOMERS]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667574" y="2109713"/>
            <a:ext cx="1849710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Newer customers typically carry higher churn risk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26864" y="2377008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Monthly Charges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640434" y="2377008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ACTUAL CHURN RATE]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654004" y="2377008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TOTAL CUSTOMERS]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667574" y="2377008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Higher charges may increase churn probability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26864" y="2543919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State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2640434" y="2543919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ACTUAL CHURN RATE]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654004" y="2543919"/>
            <a:ext cx="2306910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[ADD TOTAL CUSTOMERS]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667574" y="2543919"/>
            <a:ext cx="1849710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Regional patterns reveal geographic churn hotspots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40023" y="2872829"/>
            <a:ext cx="3932039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SQL Analytical Categories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0023" y="3044428"/>
            <a:ext cx="3932039" cy="909340"/>
          </a:xfrm>
          <a:prstGeom prst="rect">
            <a:avLst/>
          </a:prstGeom>
          <a:noFill/>
          <a:ln/>
        </p:spPr>
        <p:txBody>
          <a:bodyPr wrap="square" lIns="0" tIns="32790" rIns="0" bIns="0" rtlCol="0" anchor="t">
            <a:normAutofit/>
          </a:bodyPr>
          <a:lstStyle/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counts and churn counts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Churn rate computation by segment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Revenue aggregation and comparison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Average monthly charges by group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segmentation queries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State-level and contract analysis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Payment-method breakdown</a:t>
            </a:r>
            <a:endParaRPr lang="en-US" sz="600" dirty="0"/>
          </a:p>
          <a:p>
            <a:pPr algn="l" marL="121920" indent="-121920">
              <a:lnSpc>
                <a:spcPct val="102000"/>
              </a:lnSpc>
              <a:buSzPct val="100000"/>
              <a:buChar char="•"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status analysis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676701" y="2872829"/>
            <a:ext cx="3932039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SQL Pipeline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76701" y="3049860"/>
            <a:ext cx="163934" cy="102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4676701" y="3179638"/>
            <a:ext cx="3932039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44" name="Text 42"/>
          <p:cNvSpPr/>
          <p:nvPr/>
        </p:nvSpPr>
        <p:spPr>
          <a:xfrm>
            <a:off x="4676701" y="3239616"/>
            <a:ext cx="3932039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Raw data loaded into SQLite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676701" y="3444999"/>
            <a:ext cx="163934" cy="102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676701" y="3574777"/>
            <a:ext cx="3932039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47" name="Text 45"/>
          <p:cNvSpPr/>
          <p:nvPr/>
        </p:nvSpPr>
        <p:spPr>
          <a:xfrm>
            <a:off x="4676701" y="3634755"/>
            <a:ext cx="3932039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Filter / Group By / Aggregation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676701" y="3840138"/>
            <a:ext cx="163934" cy="102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4676701" y="3969916"/>
            <a:ext cx="3932039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50" name="Text 48"/>
          <p:cNvSpPr/>
          <p:nvPr/>
        </p:nvSpPr>
        <p:spPr>
          <a:xfrm>
            <a:off x="4676701" y="4029894"/>
            <a:ext cx="3932039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Business KPI computation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676701" y="4235276"/>
            <a:ext cx="163934" cy="102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4676701" y="4365054"/>
            <a:ext cx="3932039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53" name="Text 51"/>
          <p:cNvSpPr/>
          <p:nvPr/>
        </p:nvSpPr>
        <p:spPr>
          <a:xfrm>
            <a:off x="4676701" y="4425032"/>
            <a:ext cx="3932039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Insight extraction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Machine Learning &amp; Churn Prediction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0023" y="742504"/>
            <a:ext cx="8063954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supervised machine learning model is trained to classify customers as </a:t>
            </a:r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Churn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or </a:t>
            </a:r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No Churn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The pipeline transforms raw customer features into a trained, evaluated prediction model capable of scoring individual churn risk.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131" y="971029"/>
            <a:ext cx="7805663" cy="2929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76007" y="3188996"/>
            <a:ext cx="1177315" cy="226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92268" y="3075599"/>
            <a:ext cx="1177315" cy="453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6593" y="3075599"/>
            <a:ext cx="1177314" cy="453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Train/Test Split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40918" y="3075599"/>
            <a:ext cx="1177315" cy="453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 Prep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32987" y="3075599"/>
            <a:ext cx="1177315" cy="453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0023" y="3943424"/>
            <a:ext cx="8521154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model target is binary: </a:t>
            </a:r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CHURN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vs. </a:t>
            </a:r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NO CHURN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Features are encoded, scaled, and split for training and testing. Model performance is evaluated using standard classification metrics.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484510" y="4079379"/>
            <a:ext cx="4048944" cy="1403524"/>
          </a:xfrm>
          <a:prstGeom prst="roundRect">
            <a:avLst>
              <a:gd name="adj" fmla="val 407"/>
            </a:avLst>
          </a:prstGeom>
          <a:solidFill>
            <a:srgbClr val="151617"/>
          </a:solidFill>
          <a:ln/>
        </p:spPr>
      </p:sp>
      <p:sp>
        <p:nvSpPr>
          <p:cNvPr id="12" name="Text 9"/>
          <p:cNvSpPr/>
          <p:nvPr/>
        </p:nvSpPr>
        <p:spPr>
          <a:xfrm>
            <a:off x="561603" y="4117925"/>
            <a:ext cx="389475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Prediction Output Files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61603" y="4277023"/>
            <a:ext cx="3894758" cy="198611"/>
          </a:xfrm>
          <a:prstGeom prst="rect">
            <a:avLst/>
          </a:prstGeom>
          <a:noFill/>
          <a:ln/>
        </p:spPr>
        <p:txBody>
          <a:bodyPr wrap="square" lIns="0" tIns="30861" rIns="0" bIns="0" rtlCol="0" anchor="t">
            <a:normAutofit/>
          </a:bodyPr>
          <a:lstStyle/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Customer_Churn_Predictions.csv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Predicted_Churned_Customers.csv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61603" y="4510311"/>
            <a:ext cx="3894758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customer record is assigned a predicted risk category and a recommended retention action priority.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670822" y="4117925"/>
            <a:ext cx="393791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Conceptual Risk Framework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670822" y="4281860"/>
            <a:ext cx="3937918" cy="821234"/>
          </a:xfrm>
          <a:prstGeom prst="roundRect">
            <a:avLst>
              <a:gd name="adj" fmla="val 696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0160" dir="2700000">
              <a:srgbClr val="151617">
                <a:alpha val="1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75584" y="4286622"/>
            <a:ext cx="1964159" cy="405854"/>
          </a:xfrm>
          <a:custGeom>
            <a:avLst/>
            <a:gdLst/>
            <a:ahLst/>
            <a:cxnLst/>
            <a:rect l="l" t="t" r="r" b="b"/>
            <a:pathLst>
              <a:path w="1964159" h="405854">
                <a:moveTo>
                  <a:pt x="4763" y="0"/>
                </a:moveTo>
                <a:lnTo>
                  <a:pt x="1964159" y="0"/>
                </a:lnTo>
                <a:lnTo>
                  <a:pt x="1964159" y="405854"/>
                </a:lnTo>
                <a:lnTo>
                  <a:pt x="0" y="405854"/>
                </a:lnTo>
                <a:lnTo>
                  <a:pt x="0" y="4763"/>
                </a:lnTo>
                <a:arcTo hR="4763" wR="4763" stAng="10800000" swAng="5400000"/>
                <a:close/>
              </a:path>
            </a:pathLst>
          </a:custGeom>
          <a:solidFill>
            <a:srgbClr val="F8ECE4"/>
          </a:solidFill>
          <a:ln/>
        </p:spPr>
      </p:sp>
      <p:sp>
        <p:nvSpPr>
          <p:cNvPr id="18" name="Text 15"/>
          <p:cNvSpPr/>
          <p:nvPr/>
        </p:nvSpPr>
        <p:spPr>
          <a:xfrm>
            <a:off x="4752677" y="4363715"/>
            <a:ext cx="1809973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Low Risk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752677" y="4522812"/>
            <a:ext cx="1809973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Monitor periodically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6639744" y="4286622"/>
            <a:ext cx="1964234" cy="405854"/>
          </a:xfrm>
          <a:custGeom>
            <a:avLst/>
            <a:gdLst/>
            <a:ahLst/>
            <a:cxnLst/>
            <a:rect l="l" t="t" r="r" b="b"/>
            <a:pathLst>
              <a:path w="1964234" h="405854">
                <a:moveTo>
                  <a:pt x="0" y="0"/>
                </a:moveTo>
                <a:lnTo>
                  <a:pt x="1959471" y="0"/>
                </a:lnTo>
                <a:arcTo hR="4763" wR="4763" stAng="16200000" swAng="5400000"/>
                <a:lnTo>
                  <a:pt x="1964234" y="405854"/>
                </a:lnTo>
                <a:lnTo>
                  <a:pt x="0" y="405854"/>
                </a:lnTo>
                <a:lnTo>
                  <a:pt x="0" y="0"/>
                </a:lnTo>
                <a:close/>
              </a:path>
            </a:pathLst>
          </a:custGeom>
          <a:solidFill>
            <a:srgbClr val="F8ECE4"/>
          </a:solidFill>
          <a:ln/>
        </p:spPr>
      </p:sp>
      <p:sp>
        <p:nvSpPr>
          <p:cNvPr id="21" name="Shape 18"/>
          <p:cNvSpPr/>
          <p:nvPr/>
        </p:nvSpPr>
        <p:spPr>
          <a:xfrm>
            <a:off x="6639744" y="4286622"/>
            <a:ext cx="9525" cy="405854"/>
          </a:xfrm>
          <a:prstGeom prst="roundRect">
            <a:avLst>
              <a:gd name="adj" fmla="val 50000"/>
            </a:avLst>
          </a:prstGeom>
          <a:solidFill>
            <a:srgbClr val="2E2F30"/>
          </a:solidFill>
          <a:ln/>
        </p:spPr>
      </p:sp>
      <p:sp>
        <p:nvSpPr>
          <p:cNvPr id="22" name="Text 19"/>
          <p:cNvSpPr/>
          <p:nvPr/>
        </p:nvSpPr>
        <p:spPr>
          <a:xfrm>
            <a:off x="6716837" y="4363715"/>
            <a:ext cx="181004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Medium Risk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716837" y="4522812"/>
            <a:ext cx="1810048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Targeted engagement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4675584" y="4692476"/>
            <a:ext cx="3928393" cy="405854"/>
          </a:xfrm>
          <a:custGeom>
            <a:avLst/>
            <a:gdLst/>
            <a:ahLst/>
            <a:cxnLst/>
            <a:rect l="l" t="t" r="r" b="b"/>
            <a:pathLst>
              <a:path w="3928393" h="405854">
                <a:moveTo>
                  <a:pt x="0" y="0"/>
                </a:moveTo>
                <a:lnTo>
                  <a:pt x="3928393" y="0"/>
                </a:lnTo>
                <a:lnTo>
                  <a:pt x="3928393" y="401092"/>
                </a:lnTo>
                <a:arcTo hR="4763" wR="4763" stAng="0" swAng="5400000"/>
                <a:lnTo>
                  <a:pt x="4763" y="405854"/>
                </a:lnTo>
                <a:arcTo hR="4763" wR="4763" stAng="5400000" swAng="5400000"/>
                <a:lnTo>
                  <a:pt x="0" y="0"/>
                </a:lnTo>
                <a:close/>
              </a:path>
            </a:pathLst>
          </a:custGeom>
          <a:solidFill>
            <a:srgbClr val="F8ECE4"/>
          </a:solidFill>
          <a:ln/>
        </p:spPr>
      </p:sp>
      <p:sp>
        <p:nvSpPr>
          <p:cNvPr id="25" name="Shape 22"/>
          <p:cNvSpPr/>
          <p:nvPr/>
        </p:nvSpPr>
        <p:spPr>
          <a:xfrm>
            <a:off x="4675584" y="4692476"/>
            <a:ext cx="3928393" cy="9525"/>
          </a:xfrm>
          <a:prstGeom prst="roundRect">
            <a:avLst>
              <a:gd name="adj" fmla="val 50000"/>
            </a:avLst>
          </a:prstGeom>
          <a:solidFill>
            <a:srgbClr val="2E2F30"/>
          </a:solidFill>
          <a:ln/>
        </p:spPr>
      </p:sp>
      <p:sp>
        <p:nvSpPr>
          <p:cNvPr id="26" name="Text 23"/>
          <p:cNvSpPr/>
          <p:nvPr/>
        </p:nvSpPr>
        <p:spPr>
          <a:xfrm>
            <a:off x="4752677" y="4769569"/>
            <a:ext cx="3774207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 Risk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52677" y="4928667"/>
            <a:ext cx="3774207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Immediate retention action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4670822" y="5146477"/>
            <a:ext cx="3937918" cy="293043"/>
          </a:xfrm>
          <a:prstGeom prst="roundRect">
            <a:avLst>
              <a:gd name="adj" fmla="val 1950"/>
            </a:avLst>
          </a:prstGeom>
          <a:solidFill>
            <a:srgbClr val="E4E6E7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915" y="5231904"/>
            <a:ext cx="96441" cy="77093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921448" y="5200427"/>
            <a:ext cx="3610198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algorithm, accuracy, ROC-AUC, and feature importance values should be populated with actual project results: </a:t>
            </a:r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[INSERT ACTUAL MODEL USED]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[INSERT ACTUAL PERFORMANCE]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37480"/>
            <a:ext cx="8063954" cy="783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Power BI Dashboard, Streamlit App &amp; Geographic Analysis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40023" y="1424732"/>
            <a:ext cx="8063954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analytical outputs are delivered through two interactive layers: an executive Power BI dashboard and a Streamlit web application, enabling stakeholders to explore churn insights without technical dependencies.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902916"/>
            <a:ext cx="1509713" cy="9330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0023" y="2963242"/>
            <a:ext cx="2603078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0023" y="3220194"/>
            <a:ext cx="2603078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Churn_Analysis_BI_Dashbord.pbix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0023" y="3467844"/>
            <a:ext cx="2603078" cy="1233339"/>
          </a:xfrm>
          <a:prstGeom prst="rect">
            <a:avLst/>
          </a:prstGeom>
          <a:noFill/>
          <a:ln/>
        </p:spPr>
        <p:txBody>
          <a:bodyPr wrap="square" lIns="0" tIns="50149" rIns="0" bIns="0" rtlCol="0" anchor="t">
            <a:normAutofit/>
          </a:bodyPr>
          <a:lstStyle/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KPIs and churn rate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status and revenue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Services, contracts, and payment methods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Geographic churn distribution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segment breakdowns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424" y="1902916"/>
            <a:ext cx="1509713" cy="9330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0424" y="2963242"/>
            <a:ext cx="2603078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Streamlit Web Application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70424" y="3220194"/>
            <a:ext cx="2603078" cy="373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Stream_app.py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master_churn_dashboard.py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270424" y="3654400"/>
            <a:ext cx="2603078" cy="1051545"/>
          </a:xfrm>
          <a:prstGeom prst="rect">
            <a:avLst/>
          </a:prstGeom>
          <a:noFill/>
          <a:ln/>
        </p:spPr>
        <p:txBody>
          <a:bodyPr wrap="square" lIns="0" tIns="50149" rIns="0" bIns="0" rtlCol="0" anchor="t">
            <a:normAutofit/>
          </a:bodyPr>
          <a:lstStyle/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KPI cards and customer analytics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Churn and revenue analysis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Interactive filters and charts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segmentation views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Prediction analysis interface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824" y="1902916"/>
            <a:ext cx="1509713" cy="9330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00824" y="2963242"/>
            <a:ext cx="2603078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Geographic Churn Analysis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00824" y="3220194"/>
            <a:ext cx="2603078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india_state.geojson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000824" y="3467844"/>
            <a:ext cx="2603078" cy="1051545"/>
          </a:xfrm>
          <a:prstGeom prst="rect">
            <a:avLst/>
          </a:prstGeom>
          <a:noFill/>
          <a:ln/>
        </p:spPr>
        <p:txBody>
          <a:bodyPr wrap="square" lIns="0" tIns="50149" rIns="0" bIns="0" rtlCol="0" anchor="t">
            <a:normAutofit/>
          </a:bodyPr>
          <a:lstStyle/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distribution by state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Churn concentration mapping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Revenue by geographic region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High-risk geographic segments</a:t>
            </a:r>
            <a:endParaRPr lang="en-US" sz="950" dirty="0"/>
          </a:p>
          <a:p>
            <a:pPr algn="l" marL="193040" indent="-193040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Regional pattern identification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Business Impact, Deliverables &amp; Portfolio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0023" y="742504"/>
            <a:ext cx="8063954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project transforms raw customer data into a complete business intelligence system — from exploratory analysis and SQL queries to machine learning predictions, interactive dashboards, and actionable retention strategies.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40023" y="1009576"/>
            <a:ext cx="4007867" cy="25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27%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0023" y="1331565"/>
            <a:ext cx="4007867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Churn Rate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96110" y="1009576"/>
            <a:ext cx="4007867" cy="25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73%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96110" y="1331565"/>
            <a:ext cx="4007867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Retention Rate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0023" y="1567755"/>
            <a:ext cx="4007867" cy="25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6418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0023" y="1889745"/>
            <a:ext cx="4007867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Customers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96110" y="1567755"/>
            <a:ext cx="4007867" cy="25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1732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6110" y="1889745"/>
            <a:ext cx="4007867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Churned Customers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40023" y="2125935"/>
            <a:ext cx="4007867" cy="25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17.34 mths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0023" y="2447925"/>
            <a:ext cx="4007867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Average Tenure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96110" y="2125935"/>
            <a:ext cx="4007867" cy="25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3411960.58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6110" y="2447925"/>
            <a:ext cx="4007867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 at Risk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40023" y="2650406"/>
            <a:ext cx="393791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Business Recommendations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0023" y="2814340"/>
            <a:ext cx="173534" cy="173534"/>
          </a:xfrm>
          <a:prstGeom prst="roundRect">
            <a:avLst>
              <a:gd name="adj" fmla="val 3293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0160" dir="2700000">
              <a:srgbClr val="151617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8933" y="2828776"/>
            <a:ext cx="1157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2103" y="2839343"/>
            <a:ext cx="3725838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Prioritize high-risk customers for immediate retention outreach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40023" y="3064966"/>
            <a:ext cx="173534" cy="173534"/>
          </a:xfrm>
          <a:prstGeom prst="roundRect">
            <a:avLst>
              <a:gd name="adj" fmla="val 3293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0160" dir="2700000">
              <a:srgbClr val="151617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8933" y="3079403"/>
            <a:ext cx="1157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2103" y="3089970"/>
            <a:ext cx="3725838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Encourage longer-term contracts to reduce month-to-month churn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540023" y="3315593"/>
            <a:ext cx="173534" cy="173534"/>
          </a:xfrm>
          <a:prstGeom prst="roundRect">
            <a:avLst>
              <a:gd name="adj" fmla="val 3293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0160" dir="2700000">
              <a:srgbClr val="151617">
                <a:alpha val="1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8933" y="3330029"/>
            <a:ext cx="1157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2103" y="3340596"/>
            <a:ext cx="3725838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Improve onboarding and customer support experience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40023" y="3566220"/>
            <a:ext cx="173534" cy="173534"/>
          </a:xfrm>
          <a:prstGeom prst="roundRect">
            <a:avLst>
              <a:gd name="adj" fmla="val 3293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0160" dir="2700000">
              <a:srgbClr val="151617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8933" y="3580656"/>
            <a:ext cx="1157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2103" y="3591223"/>
            <a:ext cx="3725838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proactive retention campaigns using predictive analytics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40023" y="3816846"/>
            <a:ext cx="173534" cy="173534"/>
          </a:xfrm>
          <a:prstGeom prst="roundRect">
            <a:avLst>
              <a:gd name="adj" fmla="val 3293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0160" dir="2700000">
              <a:srgbClr val="151617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8933" y="3831282"/>
            <a:ext cx="1157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2103" y="3841849"/>
            <a:ext cx="3725838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Monitor churn KPIs continuously via Power BI and Streamlit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4615309" y="2611859"/>
            <a:ext cx="4048944" cy="1736303"/>
          </a:xfrm>
          <a:prstGeom prst="roundRect">
            <a:avLst>
              <a:gd name="adj" fmla="val 329"/>
            </a:avLst>
          </a:prstGeom>
          <a:solidFill>
            <a:srgbClr val="151617"/>
          </a:solidFill>
          <a:ln/>
        </p:spPr>
      </p:sp>
      <p:sp>
        <p:nvSpPr>
          <p:cNvPr id="33" name="Text 31"/>
          <p:cNvSpPr/>
          <p:nvPr/>
        </p:nvSpPr>
        <p:spPr>
          <a:xfrm>
            <a:off x="4692402" y="2650406"/>
            <a:ext cx="389475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Deliverables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92402" y="2809503"/>
            <a:ext cx="3894758" cy="728811"/>
          </a:xfrm>
          <a:prstGeom prst="rect">
            <a:avLst/>
          </a:prstGeom>
          <a:noFill/>
          <a:ln/>
        </p:spPr>
        <p:txBody>
          <a:bodyPr wrap="square" lIns="0" tIns="30861" rIns="0" bIns="0" rtlCol="0" anchor="t">
            <a:normAutofit/>
          </a:bodyPr>
          <a:lstStyle/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01-Churn-Analysis-proj-for-EDA-Data-Processing.ipynb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02-Churn-SQL-Dashbord-Analysis.ipynb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03-Churn-Prediction-Analysis.ipynb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CSV datasets and SQLite databases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Power BI dashboard (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.pbix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Streamlit web application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Geospatial analysis (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.geojson</a:t>
            </a:r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692402" y="3600971"/>
            <a:ext cx="3894758" cy="9525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692402" y="3673153"/>
            <a:ext cx="389475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Explore the Project</a:t>
            </a:r>
            <a:endParaRPr lang="en-US" sz="750" dirty="0"/>
          </a:p>
        </p:txBody>
      </p:sp>
      <p:pic>
        <p:nvPicPr>
          <p:cNvPr id="37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402" y="3837087"/>
            <a:ext cx="886569" cy="212154"/>
          </a:xfrm>
          <a:prstGeom prst="rect">
            <a:avLst/>
          </a:prstGeom>
        </p:spPr>
      </p:pic>
      <p:pic>
        <p:nvPicPr>
          <p:cNvPr id="38" name="Image 1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518" y="3837087"/>
            <a:ext cx="770930" cy="212154"/>
          </a:xfrm>
          <a:prstGeom prst="rect">
            <a:avLst/>
          </a:prstGeom>
        </p:spPr>
      </p:pic>
      <p:pic>
        <p:nvPicPr>
          <p:cNvPr id="39" name="Image 2" descr="preencoded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994" y="3837087"/>
            <a:ext cx="809476" cy="212154"/>
          </a:xfrm>
          <a:prstGeom prst="rect">
            <a:avLst/>
          </a:prstGeom>
        </p:spPr>
      </p:pic>
      <p:pic>
        <p:nvPicPr>
          <p:cNvPr id="40" name="Image 3" descr="preencoded.png">
            <a:hlinkClick r:id="rId8" tooltip="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402" y="4092625"/>
            <a:ext cx="848023" cy="212154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55737" y="4434929"/>
            <a:ext cx="8405440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"Turning Customer Data into Business Intelligence"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 Mohammed Kaif</a:t>
            </a:r>
            <a:endParaRPr lang="en-US" sz="600" dirty="0"/>
          </a:p>
        </p:txBody>
      </p:sp>
      <p:sp>
        <p:nvSpPr>
          <p:cNvPr id="42" name="Shape 36"/>
          <p:cNvSpPr/>
          <p:nvPr/>
        </p:nvSpPr>
        <p:spPr>
          <a:xfrm>
            <a:off x="540023" y="4391546"/>
            <a:ext cx="9525" cy="179338"/>
          </a:xfrm>
          <a:prstGeom prst="roundRect">
            <a:avLst>
              <a:gd name="adj" fmla="val 50000"/>
            </a:avLst>
          </a:prstGeom>
          <a:solidFill>
            <a:srgbClr val="151617"/>
          </a:solidFill>
          <a:ln/>
        </p:spPr>
      </p:sp>
      <p:sp>
        <p:nvSpPr>
          <p:cNvPr id="43" name="Text 37"/>
          <p:cNvSpPr/>
          <p:nvPr/>
        </p:nvSpPr>
        <p:spPr>
          <a:xfrm>
            <a:off x="540023" y="4614267"/>
            <a:ext cx="8521154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Thank you for reviewing this project. This end-to-end analytics system demonstrates proficiency in data processing, SQL, machine learning, business intelligence, and full-stack data application development.</a:t>
            </a:r>
            <a:endParaRPr lang="en-US" sz="600" dirty="0"/>
          </a:p>
        </p:txBody>
      </p:sp>
      <p:sp>
        <p:nvSpPr>
          <p:cNvPr id="44" name="Shape 38"/>
          <p:cNvSpPr/>
          <p:nvPr/>
        </p:nvSpPr>
        <p:spPr>
          <a:xfrm>
            <a:off x="540023" y="4750222"/>
            <a:ext cx="555278" cy="117202"/>
          </a:xfrm>
          <a:prstGeom prst="roundRect">
            <a:avLst>
              <a:gd name="adj" fmla="val 4876"/>
            </a:avLst>
          </a:prstGeom>
          <a:solidFill>
            <a:srgbClr val="E4E6E7"/>
          </a:solidFill>
          <a:ln/>
        </p:spPr>
      </p:sp>
      <p:sp>
        <p:nvSpPr>
          <p:cNvPr id="45" name="Text 39"/>
          <p:cNvSpPr/>
          <p:nvPr/>
        </p:nvSpPr>
        <p:spPr>
          <a:xfrm>
            <a:off x="586308" y="4773364"/>
            <a:ext cx="919907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 MOHAMMED KAIF</a:t>
            </a:r>
            <a:endParaRPr lang="en-US" sz="450" dirty="0"/>
          </a:p>
        </p:txBody>
      </p:sp>
      <p:sp>
        <p:nvSpPr>
          <p:cNvPr id="46" name="Shape 40"/>
          <p:cNvSpPr/>
          <p:nvPr/>
        </p:nvSpPr>
        <p:spPr>
          <a:xfrm>
            <a:off x="1133847" y="4750222"/>
            <a:ext cx="462707" cy="117202"/>
          </a:xfrm>
          <a:prstGeom prst="roundRect">
            <a:avLst>
              <a:gd name="adj" fmla="val 4876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1180133" y="4773364"/>
            <a:ext cx="827336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SCIENCE</a:t>
            </a:r>
            <a:endParaRPr lang="en-US" sz="450" dirty="0"/>
          </a:p>
        </p:txBody>
      </p:sp>
      <p:sp>
        <p:nvSpPr>
          <p:cNvPr id="48" name="Shape 42"/>
          <p:cNvSpPr/>
          <p:nvPr/>
        </p:nvSpPr>
        <p:spPr>
          <a:xfrm>
            <a:off x="1635100" y="4750222"/>
            <a:ext cx="524396" cy="117202"/>
          </a:xfrm>
          <a:prstGeom prst="roundRect">
            <a:avLst>
              <a:gd name="adj" fmla="val 4876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1681386" y="4773364"/>
            <a:ext cx="889025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ANALYTICS</a:t>
            </a:r>
            <a:endParaRPr lang="en-US" sz="450" dirty="0"/>
          </a:p>
        </p:txBody>
      </p:sp>
      <p:sp>
        <p:nvSpPr>
          <p:cNvPr id="50" name="Shape 44"/>
          <p:cNvSpPr/>
          <p:nvPr/>
        </p:nvSpPr>
        <p:spPr>
          <a:xfrm>
            <a:off x="2198043" y="4750222"/>
            <a:ext cx="586085" cy="117202"/>
          </a:xfrm>
          <a:prstGeom prst="roundRect">
            <a:avLst>
              <a:gd name="adj" fmla="val 4876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2244328" y="4773364"/>
            <a:ext cx="950714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MACHINE LEARNING</a:t>
            </a:r>
            <a:endParaRPr lang="en-US" sz="450" dirty="0"/>
          </a:p>
        </p:txBody>
      </p:sp>
      <p:sp>
        <p:nvSpPr>
          <p:cNvPr id="52" name="Shape 46"/>
          <p:cNvSpPr/>
          <p:nvPr/>
        </p:nvSpPr>
        <p:spPr>
          <a:xfrm>
            <a:off x="2822674" y="4750222"/>
            <a:ext cx="740346" cy="117202"/>
          </a:xfrm>
          <a:prstGeom prst="roundRect">
            <a:avLst>
              <a:gd name="adj" fmla="val 4876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2868960" y="4773364"/>
            <a:ext cx="1104974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BUSINESS INTELLIGENCE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2026-08-14T12:24:25Z</dcterms:created>
  <dcterms:modified xsi:type="dcterms:W3CDTF">2026-08-14T12:24:25Z</dcterms:modified>
</cp:coreProperties>
</file>